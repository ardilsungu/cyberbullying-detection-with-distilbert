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57" r:id="rId3"/>
    <p:sldId id="276" r:id="rId4"/>
    <p:sldId id="270" r:id="rId5"/>
    <p:sldId id="260" r:id="rId6"/>
    <p:sldId id="272" r:id="rId7"/>
    <p:sldId id="258" r:id="rId8"/>
    <p:sldId id="274" r:id="rId9"/>
    <p:sldId id="261" r:id="rId10"/>
    <p:sldId id="273" r:id="rId11"/>
    <p:sldId id="262" r:id="rId12"/>
    <p:sldId id="263" r:id="rId13"/>
    <p:sldId id="264" r:id="rId14"/>
    <p:sldId id="265" r:id="rId15"/>
    <p:sldId id="275" r:id="rId16"/>
  </p:sldIdLst>
  <p:sldSz cx="12192000" cy="6858000"/>
  <p:notesSz cx="6858000" cy="9144000"/>
  <p:embeddedFontLst>
    <p:embeddedFont>
      <p:font typeface="JetBrains Mono" panose="020B0604020202020204" charset="0"/>
      <p:regular r:id="rId18"/>
      <p:bold r:id="rId19"/>
      <p:italic r:id="rId20"/>
      <p:boldItalic r:id="rId21"/>
    </p:embeddedFont>
    <p:embeddedFont>
      <p:font typeface="Calibri" panose="020F0502020204030204" pitchFamily="34" charset="0"/>
      <p:regular r:id="rId22"/>
      <p:bold r:id="rId23"/>
      <p:italic r:id="rId24"/>
      <p:boldItalic r:id="rId25"/>
    </p:embeddedFont>
    <p:embeddedFont>
      <p:font typeface="Inter" panose="020B060402020202020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C6F5F4C-02A1-4CA1-8383-A9F11F1F7417}">
  <a:tblStyle styleId="{FC6F5F4C-02A1-4CA1-8383-A9F11F1F7417}"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2" d="100"/>
          <a:sy n="72" d="100"/>
        </p:scale>
        <p:origin x="81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7481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0" name="Google Shape;15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32896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67681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13948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5" name="Google Shape;24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87596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0.jp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2481262" y="1204019"/>
            <a:ext cx="8071008" cy="1340941"/>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4800" b="1" i="0" u="none" strike="noStrike" cap="none">
                <a:solidFill>
                  <a:srgbClr val="38BDF8"/>
                </a:solidFill>
                <a:latin typeface="Inter"/>
                <a:ea typeface="Inter"/>
                <a:cs typeface="Inter"/>
                <a:sym typeface="Inter"/>
              </a:rPr>
              <a:t>Automated Cyberbullying</a:t>
            </a:r>
            <a:r>
              <a:rPr lang="en-US" sz="1800" b="0" i="0" u="none" strike="noStrike" cap="none">
                <a:solidFill>
                  <a:schemeClr val="dk1"/>
                </a:solidFill>
                <a:latin typeface="Calibri"/>
                <a:ea typeface="Calibri"/>
                <a:cs typeface="Calibri"/>
                <a:sym typeface="Calibri"/>
              </a:rPr>
              <a:t/>
            </a:r>
            <a:br>
              <a:rPr lang="en-US" sz="1800" b="0" i="0" u="none" strike="noStrike" cap="none">
                <a:solidFill>
                  <a:schemeClr val="dk1"/>
                </a:solidFill>
                <a:latin typeface="Calibri"/>
                <a:ea typeface="Calibri"/>
                <a:cs typeface="Calibri"/>
                <a:sym typeface="Calibri"/>
              </a:rPr>
            </a:br>
            <a:r>
              <a:rPr lang="en-US" sz="4800" b="1" i="0" u="none" strike="noStrike" cap="none">
                <a:solidFill>
                  <a:srgbClr val="38BDF8"/>
                </a:solidFill>
                <a:latin typeface="Inter"/>
                <a:ea typeface="Inter"/>
                <a:cs typeface="Inter"/>
                <a:sym typeface="Inter"/>
              </a:rPr>
              <a:t> Detection on Social Media</a:t>
            </a:r>
            <a:endParaRPr/>
          </a:p>
        </p:txBody>
      </p:sp>
      <p:sp>
        <p:nvSpPr>
          <p:cNvPr id="86" name="Google Shape;86;p13"/>
          <p:cNvSpPr txBox="1"/>
          <p:nvPr/>
        </p:nvSpPr>
        <p:spPr>
          <a:xfrm>
            <a:off x="2481262" y="2735460"/>
            <a:ext cx="7686675" cy="36567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94A3B8"/>
                </a:solidFill>
                <a:latin typeface="Inter"/>
                <a:ea typeface="Inter"/>
                <a:cs typeface="Inter"/>
                <a:sym typeface="Inter"/>
              </a:rPr>
              <a:t>A Comparative Analysis of DistilBERT and Traditional ML Models</a:t>
            </a:r>
            <a:endParaRPr/>
          </a:p>
        </p:txBody>
      </p:sp>
      <p:sp>
        <p:nvSpPr>
          <p:cNvPr id="87" name="Google Shape;87;p13"/>
          <p:cNvSpPr txBox="1"/>
          <p:nvPr/>
        </p:nvSpPr>
        <p:spPr>
          <a:xfrm>
            <a:off x="2481262" y="3672631"/>
            <a:ext cx="768667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94A3B8"/>
                </a:solidFill>
                <a:latin typeface="JetBrains Mono"/>
                <a:ea typeface="JetBrains Mono"/>
                <a:cs typeface="JetBrains Mono"/>
                <a:sym typeface="JetBrains Mono"/>
              </a:rPr>
              <a:t>Ardil SUNGU</a:t>
            </a:r>
            <a:endParaRPr/>
          </a:p>
        </p:txBody>
      </p:sp>
      <p:sp>
        <p:nvSpPr>
          <p:cNvPr id="88" name="Google Shape;88;p13"/>
          <p:cNvSpPr txBox="1"/>
          <p:nvPr/>
        </p:nvSpPr>
        <p:spPr>
          <a:xfrm>
            <a:off x="2481262" y="4167931"/>
            <a:ext cx="768667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JetBrains Mono"/>
                <a:ea typeface="JetBrains Mono"/>
                <a:cs typeface="JetBrains Mono"/>
                <a:sym typeface="JetBrains Mono"/>
              </a:rPr>
              <a:t>Student ID: 1031510019</a:t>
            </a:r>
            <a:endParaRPr/>
          </a:p>
        </p:txBody>
      </p:sp>
      <p:sp>
        <p:nvSpPr>
          <p:cNvPr id="89" name="Google Shape;89;p13"/>
          <p:cNvSpPr txBox="1"/>
          <p:nvPr/>
        </p:nvSpPr>
        <p:spPr>
          <a:xfrm>
            <a:off x="2481262" y="4663231"/>
            <a:ext cx="768667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JetBrains Mono"/>
                <a:ea typeface="JetBrains Mono"/>
                <a:cs typeface="JetBrains Mono"/>
                <a:sym typeface="JetBrains Mono"/>
              </a:rPr>
              <a:t>Erciyes University | Faculty of Engineering</a:t>
            </a:r>
            <a:endParaRPr/>
          </a:p>
        </p:txBody>
      </p:sp>
      <p:sp>
        <p:nvSpPr>
          <p:cNvPr id="90" name="Google Shape;90;p13"/>
          <p:cNvSpPr txBox="1"/>
          <p:nvPr/>
        </p:nvSpPr>
        <p:spPr>
          <a:xfrm>
            <a:off x="2481262" y="5158531"/>
            <a:ext cx="768667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94A3B8"/>
                </a:solidFill>
                <a:latin typeface="JetBrains Mono"/>
                <a:ea typeface="JetBrains Mono"/>
                <a:cs typeface="JetBrains Mono"/>
                <a:sym typeface="JetBrains Mono"/>
              </a:rPr>
              <a:t>Department of Software Engineering</a:t>
            </a:r>
            <a:endParaRP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94"/>
        <p:cNvGrpSpPr/>
        <p:nvPr/>
      </p:nvGrpSpPr>
      <p:grpSpPr>
        <a:xfrm>
          <a:off x="0" y="0"/>
          <a:ext cx="0" cy="0"/>
          <a:chOff x="0" y="0"/>
          <a:chExt cx="0" cy="0"/>
        </a:xfrm>
      </p:grpSpPr>
      <p:sp>
        <p:nvSpPr>
          <p:cNvPr id="97" name="Google Shape;97;p14"/>
          <p:cNvSpPr txBox="1"/>
          <p:nvPr/>
        </p:nvSpPr>
        <p:spPr>
          <a:xfrm>
            <a:off x="595313" y="1855629"/>
            <a:ext cx="5500687"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chemeClr val="bg2">
                    <a:lumMod val="60000"/>
                    <a:lumOff val="40000"/>
                  </a:schemeClr>
                </a:solidFill>
                <a:latin typeface="Inter"/>
                <a:ea typeface="Inter"/>
                <a:cs typeface="Inter"/>
                <a:sym typeface="Inter"/>
              </a:rPr>
              <a:t>Digital Era Challenges</a:t>
            </a:r>
            <a:endParaRPr dirty="0">
              <a:solidFill>
                <a:schemeClr val="bg2">
                  <a:lumMod val="60000"/>
                  <a:lumOff val="40000"/>
                </a:schemeClr>
              </a:solidFill>
            </a:endParaRPr>
          </a:p>
        </p:txBody>
      </p:sp>
      <p:sp>
        <p:nvSpPr>
          <p:cNvPr id="98" name="Google Shape;98;p14"/>
          <p:cNvSpPr txBox="1"/>
          <p:nvPr/>
        </p:nvSpPr>
        <p:spPr>
          <a:xfrm>
            <a:off x="702466" y="2180272"/>
            <a:ext cx="5238750" cy="1477328"/>
          </a:xfrm>
          <a:prstGeom prst="rect">
            <a:avLst/>
          </a:prstGeom>
          <a:noFill/>
          <a:ln>
            <a:noFill/>
          </a:ln>
        </p:spPr>
        <p:txBody>
          <a:bodyPr spcFirstLastPara="1" wrap="square" lIns="0" tIns="0" rIns="0" bIns="0" anchor="t" anchorCtr="0">
            <a:spAutoFit/>
          </a:bodyPr>
          <a:lstStyle/>
          <a:p>
            <a:pPr lvl="0">
              <a:lnSpc>
                <a:spcPct val="160000"/>
              </a:lnSpc>
            </a:pPr>
            <a:r>
              <a:rPr lang="en-US" sz="1500" dirty="0">
                <a:solidFill>
                  <a:schemeClr val="bg1"/>
                </a:solidFill>
              </a:rPr>
              <a:t>Social media grew very fast and changed how we speak, but it also helped bad behavior spread. Since there are billions of messages every day, it is impossible for humans to check them all by hand.</a:t>
            </a:r>
            <a:endParaRPr sz="1500" dirty="0">
              <a:solidFill>
                <a:schemeClr val="bg1"/>
              </a:solidFill>
            </a:endParaRPr>
          </a:p>
        </p:txBody>
      </p:sp>
      <p:sp>
        <p:nvSpPr>
          <p:cNvPr id="99" name="Google Shape;99;p14"/>
          <p:cNvSpPr txBox="1"/>
          <p:nvPr/>
        </p:nvSpPr>
        <p:spPr>
          <a:xfrm>
            <a:off x="595313" y="4028833"/>
            <a:ext cx="5500687"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chemeClr val="bg2">
                    <a:lumMod val="40000"/>
                    <a:lumOff val="60000"/>
                  </a:schemeClr>
                </a:solidFill>
                <a:latin typeface="Inter"/>
                <a:ea typeface="Inter"/>
                <a:cs typeface="Inter"/>
                <a:sym typeface="Inter"/>
              </a:rPr>
              <a:t>The Solution</a:t>
            </a:r>
            <a:endParaRPr dirty="0">
              <a:solidFill>
                <a:schemeClr val="bg2">
                  <a:lumMod val="40000"/>
                  <a:lumOff val="60000"/>
                </a:schemeClr>
              </a:solidFill>
            </a:endParaRPr>
          </a:p>
        </p:txBody>
      </p:sp>
      <p:sp>
        <p:nvSpPr>
          <p:cNvPr id="100" name="Google Shape;100;p14"/>
          <p:cNvSpPr txBox="1"/>
          <p:nvPr/>
        </p:nvSpPr>
        <p:spPr>
          <a:xfrm>
            <a:off x="702466" y="4352683"/>
            <a:ext cx="5238750" cy="1107996"/>
          </a:xfrm>
          <a:prstGeom prst="rect">
            <a:avLst/>
          </a:prstGeom>
          <a:noFill/>
          <a:ln>
            <a:noFill/>
          </a:ln>
        </p:spPr>
        <p:txBody>
          <a:bodyPr spcFirstLastPara="1" wrap="square" lIns="0" tIns="0" rIns="0" bIns="0" anchor="t" anchorCtr="0">
            <a:spAutoFit/>
          </a:bodyPr>
          <a:lstStyle/>
          <a:p>
            <a:pPr lvl="0">
              <a:lnSpc>
                <a:spcPct val="160000"/>
              </a:lnSpc>
            </a:pPr>
            <a:r>
              <a:rPr lang="en-US" sz="1500" dirty="0">
                <a:solidFill>
                  <a:schemeClr val="bg1"/>
                </a:solidFill>
              </a:rPr>
              <a:t>We need automated tools that understand language. The goal of this project is to build a strong system that finds and labels cyberbullying instantly.</a:t>
            </a:r>
            <a:endParaRPr sz="1500" dirty="0">
              <a:solidFill>
                <a:schemeClr val="bg1"/>
              </a:solidFill>
            </a:endParaRPr>
          </a:p>
        </p:txBody>
      </p:sp>
      <p:sp>
        <p:nvSpPr>
          <p:cNvPr id="102" name="Google Shape;102;p14"/>
          <p:cNvSpPr txBox="1"/>
          <p:nvPr/>
        </p:nvSpPr>
        <p:spPr>
          <a:xfrm>
            <a:off x="571500" y="571500"/>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38BDF8"/>
                </a:solidFill>
                <a:latin typeface="Inter"/>
                <a:ea typeface="Inter"/>
                <a:cs typeface="Inter"/>
                <a:sym typeface="Inter"/>
              </a:rPr>
              <a:t>The Rising Threat</a:t>
            </a:r>
            <a:endParaRPr/>
          </a:p>
        </p:txBody>
      </p:sp>
      <p:sp>
        <p:nvSpPr>
          <p:cNvPr id="103" name="Google Shape;103;p14"/>
          <p:cNvSpPr/>
          <p:nvPr/>
        </p:nvSpPr>
        <p:spPr>
          <a:xfrm>
            <a:off x="571500" y="1323975"/>
            <a:ext cx="11049000" cy="1905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 name="Resim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13187" y="1666875"/>
            <a:ext cx="4413996" cy="4364555"/>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endParaRPr lang="tr-TR"/>
          </a:p>
        </p:txBody>
      </p:sp>
      <p:sp>
        <p:nvSpPr>
          <p:cNvPr id="3" name="Metin Yer Tutucusu 2"/>
          <p:cNvSpPr>
            <a:spLocks noGrp="1"/>
          </p:cNvSpPr>
          <p:nvPr>
            <p:ph type="body" idx="1"/>
          </p:nvPr>
        </p:nvSpPr>
        <p:spPr/>
        <p:txBody>
          <a:bodyPr/>
          <a:lstStyle/>
          <a:p>
            <a:endParaRPr lang="tr-TR"/>
          </a:p>
        </p:txBody>
      </p:sp>
      <p:pic>
        <p:nvPicPr>
          <p:cNvPr id="5" name="Google Shape;95;p14" descr="image.png"/>
          <p:cNvPicPr preferRelativeResize="0"/>
          <p:nvPr/>
        </p:nvPicPr>
        <p:blipFill rotWithShape="1">
          <a:blip r:embed="rId2">
            <a:alphaModFix/>
          </a:blip>
          <a:srcRect/>
          <a:stretch/>
        </p:blipFill>
        <p:spPr>
          <a:xfrm>
            <a:off x="0" y="0"/>
            <a:ext cx="12192000" cy="68580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6" name="Resim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0626" y="1820262"/>
            <a:ext cx="3972479" cy="4305901"/>
          </a:xfrm>
          <a:prstGeom prst="rect">
            <a:avLst/>
          </a:prstGeom>
        </p:spPr>
      </p:pic>
      <p:sp>
        <p:nvSpPr>
          <p:cNvPr id="7" name="Dikdörtgen 6"/>
          <p:cNvSpPr/>
          <p:nvPr/>
        </p:nvSpPr>
        <p:spPr>
          <a:xfrm>
            <a:off x="457200" y="274638"/>
            <a:ext cx="2406428" cy="646331"/>
          </a:xfrm>
          <a:prstGeom prst="rect">
            <a:avLst/>
          </a:prstGeom>
        </p:spPr>
        <p:txBody>
          <a:bodyPr wrap="none">
            <a:spAutoFit/>
          </a:bodyPr>
          <a:lstStyle/>
          <a:p>
            <a:pPr lvl="0"/>
            <a:r>
              <a:rPr lang="tr-TR" sz="3600" b="1" dirty="0" smtClean="0">
                <a:solidFill>
                  <a:srgbClr val="38BDF8"/>
                </a:solidFill>
                <a:latin typeface="Inter"/>
                <a:ea typeface="Inter"/>
                <a:cs typeface="Inter"/>
                <a:sym typeface="Inter"/>
              </a:rPr>
              <a:t>DATASET</a:t>
            </a:r>
            <a:endParaRPr lang="en-US" sz="3600" dirty="0"/>
          </a:p>
        </p:txBody>
      </p:sp>
      <p:sp>
        <p:nvSpPr>
          <p:cNvPr id="8" name="Metin kutusu 7"/>
          <p:cNvSpPr txBox="1"/>
          <p:nvPr/>
        </p:nvSpPr>
        <p:spPr>
          <a:xfrm>
            <a:off x="523783" y="1417638"/>
            <a:ext cx="6755906" cy="3924151"/>
          </a:xfrm>
          <a:prstGeom prst="rect">
            <a:avLst/>
          </a:prstGeom>
          <a:noFill/>
        </p:spPr>
        <p:txBody>
          <a:bodyPr wrap="square" rtlCol="0">
            <a:spAutoFit/>
          </a:bodyPr>
          <a:lstStyle/>
          <a:p>
            <a:pPr fontAlgn="base"/>
            <a:r>
              <a:rPr lang="tr-TR" sz="1800" b="1" i="1" dirty="0" err="1" smtClean="0">
                <a:solidFill>
                  <a:schemeClr val="bg1"/>
                </a:solidFill>
                <a:latin typeface="+mn-lt"/>
              </a:rPr>
              <a:t>Dataset</a:t>
            </a:r>
            <a:r>
              <a:rPr lang="tr-TR" sz="1800" b="1" i="1" dirty="0" smtClean="0">
                <a:solidFill>
                  <a:schemeClr val="bg1"/>
                </a:solidFill>
                <a:latin typeface="+mn-lt"/>
              </a:rPr>
              <a:t> </a:t>
            </a:r>
            <a:r>
              <a:rPr lang="tr-TR" sz="1800" b="1" i="1" dirty="0" err="1">
                <a:solidFill>
                  <a:schemeClr val="bg1"/>
                </a:solidFill>
                <a:latin typeface="+mn-lt"/>
              </a:rPr>
              <a:t>O</a:t>
            </a:r>
            <a:r>
              <a:rPr lang="tr-TR" sz="1800" b="1" i="1" dirty="0" err="1" smtClean="0">
                <a:solidFill>
                  <a:schemeClr val="bg1"/>
                </a:solidFill>
                <a:latin typeface="+mn-lt"/>
              </a:rPr>
              <a:t>verview</a:t>
            </a:r>
            <a:r>
              <a:rPr lang="tr-TR" sz="1800" b="1" i="1" dirty="0" smtClean="0">
                <a:solidFill>
                  <a:schemeClr val="bg1"/>
                </a:solidFill>
                <a:latin typeface="+mn-lt"/>
              </a:rPr>
              <a:t> :</a:t>
            </a:r>
          </a:p>
          <a:p>
            <a:pPr fontAlgn="base"/>
            <a:endParaRPr lang="tr-TR" dirty="0">
              <a:solidFill>
                <a:schemeClr val="bg1"/>
              </a:solidFill>
            </a:endParaRPr>
          </a:p>
          <a:p>
            <a:pPr fontAlgn="base"/>
            <a:r>
              <a:rPr lang="tr-TR" sz="1500" b="1" dirty="0" smtClean="0">
                <a:solidFill>
                  <a:schemeClr val="bg1"/>
                </a:solidFill>
              </a:rPr>
              <a:t>Source</a:t>
            </a:r>
            <a:r>
              <a:rPr lang="tr-TR" sz="1500" dirty="0" smtClean="0">
                <a:solidFill>
                  <a:schemeClr val="bg1"/>
                </a:solidFill>
              </a:rPr>
              <a:t>: </a:t>
            </a:r>
            <a:r>
              <a:rPr lang="tr-TR" sz="1500" dirty="0" err="1" smtClean="0">
                <a:solidFill>
                  <a:schemeClr val="bg1"/>
                </a:solidFill>
              </a:rPr>
              <a:t>Kaggle</a:t>
            </a:r>
            <a:r>
              <a:rPr lang="tr-TR" sz="1500" dirty="0" smtClean="0">
                <a:solidFill>
                  <a:schemeClr val="bg1"/>
                </a:solidFill>
              </a:rPr>
              <a:t> / </a:t>
            </a:r>
            <a:r>
              <a:rPr lang="tr-TR" sz="1500" dirty="0" err="1">
                <a:solidFill>
                  <a:schemeClr val="bg1"/>
                </a:solidFill>
              </a:rPr>
              <a:t>Cyberbullying</a:t>
            </a:r>
            <a:r>
              <a:rPr lang="tr-TR" sz="1500" dirty="0">
                <a:solidFill>
                  <a:schemeClr val="bg1"/>
                </a:solidFill>
              </a:rPr>
              <a:t> </a:t>
            </a:r>
            <a:r>
              <a:rPr lang="tr-TR" sz="1500" dirty="0" err="1" smtClean="0">
                <a:solidFill>
                  <a:schemeClr val="bg1"/>
                </a:solidFill>
              </a:rPr>
              <a:t>Classification</a:t>
            </a:r>
            <a:endParaRPr lang="tr-TR" sz="1500" dirty="0" smtClean="0">
              <a:solidFill>
                <a:schemeClr val="bg1"/>
              </a:solidFill>
            </a:endParaRPr>
          </a:p>
          <a:p>
            <a:pPr fontAlgn="base"/>
            <a:endParaRPr lang="tr-TR" sz="1500" b="1" dirty="0">
              <a:solidFill>
                <a:schemeClr val="bg1"/>
              </a:solidFill>
            </a:endParaRPr>
          </a:p>
          <a:p>
            <a:r>
              <a:rPr lang="tr-TR" sz="1500" b="1" dirty="0" smtClean="0">
                <a:solidFill>
                  <a:schemeClr val="bg1"/>
                </a:solidFill>
              </a:rPr>
              <a:t>Total</a:t>
            </a:r>
            <a:r>
              <a:rPr lang="tr-TR" sz="1500" dirty="0" smtClean="0">
                <a:solidFill>
                  <a:schemeClr val="bg1"/>
                </a:solidFill>
              </a:rPr>
              <a:t> </a:t>
            </a:r>
            <a:r>
              <a:rPr lang="tr-TR" sz="1500" b="1" dirty="0" smtClean="0">
                <a:solidFill>
                  <a:schemeClr val="bg1"/>
                </a:solidFill>
              </a:rPr>
              <a:t>Size</a:t>
            </a:r>
            <a:r>
              <a:rPr lang="tr-TR" sz="1500" dirty="0" smtClean="0">
                <a:solidFill>
                  <a:schemeClr val="bg1"/>
                </a:solidFill>
              </a:rPr>
              <a:t> :  47000 </a:t>
            </a:r>
            <a:r>
              <a:rPr lang="tr-TR" sz="1500" dirty="0" err="1" smtClean="0">
                <a:solidFill>
                  <a:schemeClr val="bg1"/>
                </a:solidFill>
              </a:rPr>
              <a:t>Labeled</a:t>
            </a:r>
            <a:r>
              <a:rPr lang="tr-TR" sz="1500" dirty="0" smtClean="0">
                <a:solidFill>
                  <a:schemeClr val="bg1"/>
                </a:solidFill>
              </a:rPr>
              <a:t> </a:t>
            </a:r>
            <a:r>
              <a:rPr lang="tr-TR" sz="1500" dirty="0" err="1" smtClean="0">
                <a:solidFill>
                  <a:schemeClr val="bg1"/>
                </a:solidFill>
              </a:rPr>
              <a:t>Tweets</a:t>
            </a:r>
            <a:endParaRPr lang="tr-TR" sz="1500" dirty="0" smtClean="0">
              <a:solidFill>
                <a:schemeClr val="bg1"/>
              </a:solidFill>
            </a:endParaRPr>
          </a:p>
          <a:p>
            <a:endParaRPr lang="tr-TR" sz="1500" dirty="0">
              <a:solidFill>
                <a:schemeClr val="bg1"/>
              </a:solidFill>
            </a:endParaRPr>
          </a:p>
          <a:p>
            <a:r>
              <a:rPr lang="tr-TR" sz="1500" b="1" dirty="0" err="1" smtClean="0">
                <a:solidFill>
                  <a:schemeClr val="bg1"/>
                </a:solidFill>
              </a:rPr>
              <a:t>Classes</a:t>
            </a:r>
            <a:r>
              <a:rPr lang="tr-TR" sz="1500" dirty="0" smtClean="0">
                <a:solidFill>
                  <a:schemeClr val="bg1"/>
                </a:solidFill>
              </a:rPr>
              <a:t>: 6 </a:t>
            </a:r>
            <a:r>
              <a:rPr lang="tr-TR" sz="1500" dirty="0" err="1" smtClean="0">
                <a:solidFill>
                  <a:schemeClr val="bg1"/>
                </a:solidFill>
              </a:rPr>
              <a:t>Balanced</a:t>
            </a:r>
            <a:r>
              <a:rPr lang="tr-TR" sz="1500" dirty="0" smtClean="0">
                <a:solidFill>
                  <a:schemeClr val="bg1"/>
                </a:solidFill>
              </a:rPr>
              <a:t> </a:t>
            </a:r>
            <a:r>
              <a:rPr lang="tr-TR" sz="1500" dirty="0" err="1" smtClean="0">
                <a:solidFill>
                  <a:schemeClr val="bg1"/>
                </a:solidFill>
              </a:rPr>
              <a:t>Categories</a:t>
            </a:r>
            <a:r>
              <a:rPr lang="tr-TR" sz="1500" dirty="0" smtClean="0">
                <a:solidFill>
                  <a:schemeClr val="bg1"/>
                </a:solidFill>
              </a:rPr>
              <a:t> (</a:t>
            </a:r>
            <a:r>
              <a:rPr lang="tr-TR" sz="1500" dirty="0" err="1" smtClean="0">
                <a:solidFill>
                  <a:schemeClr val="bg1"/>
                </a:solidFill>
              </a:rPr>
              <a:t>age</a:t>
            </a:r>
            <a:r>
              <a:rPr lang="tr-TR" sz="1500" dirty="0" smtClean="0">
                <a:solidFill>
                  <a:schemeClr val="bg1"/>
                </a:solidFill>
              </a:rPr>
              <a:t>, </a:t>
            </a:r>
            <a:r>
              <a:rPr lang="tr-TR" sz="1500" dirty="0" err="1" smtClean="0">
                <a:solidFill>
                  <a:schemeClr val="bg1"/>
                </a:solidFill>
              </a:rPr>
              <a:t>ethnicity</a:t>
            </a:r>
            <a:r>
              <a:rPr lang="tr-TR" sz="1500" dirty="0" smtClean="0">
                <a:solidFill>
                  <a:schemeClr val="bg1"/>
                </a:solidFill>
              </a:rPr>
              <a:t>, </a:t>
            </a:r>
            <a:r>
              <a:rPr lang="tr-TR" sz="1500" dirty="0" err="1" smtClean="0">
                <a:solidFill>
                  <a:schemeClr val="bg1"/>
                </a:solidFill>
              </a:rPr>
              <a:t>gender</a:t>
            </a:r>
            <a:r>
              <a:rPr lang="tr-TR" sz="1500" dirty="0" smtClean="0">
                <a:solidFill>
                  <a:schemeClr val="bg1"/>
                </a:solidFill>
              </a:rPr>
              <a:t>, </a:t>
            </a:r>
            <a:r>
              <a:rPr lang="tr-TR" sz="1500" dirty="0" err="1" smtClean="0">
                <a:solidFill>
                  <a:schemeClr val="bg1"/>
                </a:solidFill>
              </a:rPr>
              <a:t>religion</a:t>
            </a:r>
            <a:r>
              <a:rPr lang="tr-TR" sz="1500" dirty="0" smtClean="0">
                <a:solidFill>
                  <a:schemeClr val="bg1"/>
                </a:solidFill>
              </a:rPr>
              <a:t>, </a:t>
            </a:r>
            <a:r>
              <a:rPr lang="tr-TR" sz="1500" dirty="0" err="1" smtClean="0">
                <a:solidFill>
                  <a:schemeClr val="bg1"/>
                </a:solidFill>
              </a:rPr>
              <a:t>other</a:t>
            </a:r>
            <a:r>
              <a:rPr lang="tr-TR" sz="1500" dirty="0" smtClean="0">
                <a:solidFill>
                  <a:schemeClr val="bg1"/>
                </a:solidFill>
              </a:rPr>
              <a:t>, not </a:t>
            </a:r>
            <a:r>
              <a:rPr lang="tr-TR" sz="1500" dirty="0" err="1" smtClean="0">
                <a:solidFill>
                  <a:schemeClr val="bg1"/>
                </a:solidFill>
              </a:rPr>
              <a:t>cyberbullying</a:t>
            </a:r>
            <a:r>
              <a:rPr lang="tr-TR" sz="1500" dirty="0" smtClean="0">
                <a:solidFill>
                  <a:schemeClr val="bg1"/>
                </a:solidFill>
              </a:rPr>
              <a:t>)</a:t>
            </a:r>
          </a:p>
          <a:p>
            <a:endParaRPr lang="tr-TR" dirty="0">
              <a:solidFill>
                <a:schemeClr val="bg1"/>
              </a:solidFill>
            </a:endParaRPr>
          </a:p>
          <a:p>
            <a:endParaRPr lang="tr-TR" dirty="0" smtClean="0">
              <a:solidFill>
                <a:schemeClr val="bg1"/>
              </a:solidFill>
            </a:endParaRPr>
          </a:p>
          <a:p>
            <a:endParaRPr lang="tr-TR" dirty="0">
              <a:solidFill>
                <a:schemeClr val="bg1"/>
              </a:solidFill>
            </a:endParaRPr>
          </a:p>
          <a:p>
            <a:r>
              <a:rPr lang="tr-TR" dirty="0" smtClean="0">
                <a:solidFill>
                  <a:schemeClr val="bg1"/>
                </a:solidFill>
              </a:rPr>
              <a:t>Experiment </a:t>
            </a:r>
            <a:r>
              <a:rPr lang="tr-TR" dirty="0" err="1" smtClean="0">
                <a:solidFill>
                  <a:schemeClr val="bg1"/>
                </a:solidFill>
              </a:rPr>
              <a:t>Split</a:t>
            </a:r>
            <a:r>
              <a:rPr lang="tr-TR" dirty="0" smtClean="0">
                <a:solidFill>
                  <a:schemeClr val="bg1"/>
                </a:solidFill>
              </a:rPr>
              <a:t> </a:t>
            </a:r>
            <a:r>
              <a:rPr lang="tr-TR" dirty="0" err="1" smtClean="0">
                <a:solidFill>
                  <a:schemeClr val="bg1"/>
                </a:solidFill>
              </a:rPr>
              <a:t>Strategy</a:t>
            </a:r>
            <a:r>
              <a:rPr lang="tr-TR" dirty="0" smtClean="0">
                <a:solidFill>
                  <a:schemeClr val="bg1"/>
                </a:solidFill>
              </a:rPr>
              <a:t>:</a:t>
            </a:r>
          </a:p>
          <a:p>
            <a:endParaRPr lang="tr-TR" dirty="0" smtClean="0">
              <a:solidFill>
                <a:schemeClr val="bg1"/>
              </a:solidFill>
            </a:endParaRPr>
          </a:p>
          <a:p>
            <a:r>
              <a:rPr lang="tr-TR" sz="1500" dirty="0" smtClean="0">
                <a:solidFill>
                  <a:schemeClr val="bg1"/>
                </a:solidFill>
              </a:rPr>
              <a:t>*</a:t>
            </a:r>
            <a:r>
              <a:rPr lang="tr-TR" sz="1500" dirty="0">
                <a:solidFill>
                  <a:schemeClr val="bg1"/>
                </a:solidFill>
              </a:rPr>
              <a:t> </a:t>
            </a:r>
            <a:r>
              <a:rPr lang="tr-TR" sz="1500" dirty="0" smtClean="0">
                <a:solidFill>
                  <a:schemeClr val="bg1"/>
                </a:solidFill>
              </a:rPr>
              <a:t>Training Set: %70</a:t>
            </a:r>
          </a:p>
          <a:p>
            <a:r>
              <a:rPr lang="tr-TR" sz="1500" dirty="0" smtClean="0">
                <a:solidFill>
                  <a:schemeClr val="bg1"/>
                </a:solidFill>
              </a:rPr>
              <a:t>* </a:t>
            </a:r>
            <a:r>
              <a:rPr lang="tr-TR" sz="1500" dirty="0" err="1" smtClean="0">
                <a:solidFill>
                  <a:schemeClr val="bg1"/>
                </a:solidFill>
              </a:rPr>
              <a:t>Validation</a:t>
            </a:r>
            <a:r>
              <a:rPr lang="tr-TR" sz="1500" dirty="0" smtClean="0">
                <a:solidFill>
                  <a:schemeClr val="bg1"/>
                </a:solidFill>
              </a:rPr>
              <a:t> Set: %15</a:t>
            </a:r>
          </a:p>
          <a:p>
            <a:r>
              <a:rPr lang="tr-TR" sz="1500" dirty="0" smtClean="0">
                <a:solidFill>
                  <a:schemeClr val="bg1"/>
                </a:solidFill>
              </a:rPr>
              <a:t>* Test set: %15</a:t>
            </a:r>
            <a:r>
              <a:rPr lang="tr-TR" dirty="0">
                <a:solidFill>
                  <a:schemeClr val="bg1"/>
                </a:solidFill>
              </a:rPr>
              <a:t/>
            </a:r>
            <a:br>
              <a:rPr lang="tr-TR" dirty="0">
                <a:solidFill>
                  <a:schemeClr val="bg1"/>
                </a:solidFill>
              </a:rPr>
            </a:br>
            <a:r>
              <a:rPr lang="tr-TR" dirty="0" smtClean="0">
                <a:solidFill>
                  <a:schemeClr val="bg1"/>
                </a:solidFill>
              </a:rPr>
              <a:t> </a:t>
            </a:r>
            <a:endParaRPr lang="tr-TR" dirty="0">
              <a:solidFill>
                <a:schemeClr val="bg1"/>
              </a:solidFill>
            </a:endParaRPr>
          </a:p>
        </p:txBody>
      </p:sp>
    </p:spTree>
    <p:extLst>
      <p:ext uri="{BB962C8B-B14F-4D97-AF65-F5344CB8AC3E}">
        <p14:creationId xmlns:p14="http://schemas.microsoft.com/office/powerpoint/2010/main" val="727184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0" name="Google Shape;110;p15" descr="image.png"/>
          <p:cNvPicPr preferRelativeResize="0"/>
          <p:nvPr/>
        </p:nvPicPr>
        <p:blipFill rotWithShape="1">
          <a:blip r:embed="rId4">
            <a:alphaModFix/>
          </a:blip>
          <a:srcRect/>
          <a:stretch/>
        </p:blipFill>
        <p:spPr>
          <a:xfrm>
            <a:off x="571500" y="1792272"/>
            <a:ext cx="3492549" cy="3933825"/>
          </a:xfrm>
          <a:prstGeom prst="rect">
            <a:avLst/>
          </a:prstGeom>
          <a:noFill/>
          <a:ln>
            <a:noFill/>
          </a:ln>
        </p:spPr>
      </p:pic>
      <p:pic>
        <p:nvPicPr>
          <p:cNvPr id="115" name="Google Shape;115;p15" descr="image.png"/>
          <p:cNvPicPr preferRelativeResize="0"/>
          <p:nvPr/>
        </p:nvPicPr>
        <p:blipFill rotWithShape="1">
          <a:blip r:embed="rId5">
            <a:alphaModFix/>
          </a:blip>
          <a:srcRect/>
          <a:stretch/>
        </p:blipFill>
        <p:spPr>
          <a:xfrm>
            <a:off x="1832801" y="2022259"/>
            <a:ext cx="762000" cy="762000"/>
          </a:xfrm>
          <a:prstGeom prst="rect">
            <a:avLst/>
          </a:prstGeom>
          <a:noFill/>
          <a:ln>
            <a:noFill/>
          </a:ln>
        </p:spPr>
      </p:pic>
      <p:sp>
        <p:nvSpPr>
          <p:cNvPr id="116" name="Google Shape;116;p15"/>
          <p:cNvSpPr txBox="1"/>
          <p:nvPr/>
        </p:nvSpPr>
        <p:spPr>
          <a:xfrm>
            <a:off x="690253" y="3009900"/>
            <a:ext cx="3047099" cy="647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dirty="0">
                <a:solidFill>
                  <a:srgbClr val="F1F5F9"/>
                </a:solidFill>
                <a:latin typeface="Inter"/>
                <a:ea typeface="Inter"/>
                <a:cs typeface="Inter"/>
                <a:sym typeface="Inter"/>
              </a:rPr>
              <a:t>Multiclass Classification</a:t>
            </a:r>
            <a:endParaRPr dirty="0"/>
          </a:p>
        </p:txBody>
      </p:sp>
      <p:sp>
        <p:nvSpPr>
          <p:cNvPr id="117" name="Google Shape;117;p15"/>
          <p:cNvSpPr txBox="1"/>
          <p:nvPr/>
        </p:nvSpPr>
        <p:spPr>
          <a:xfrm>
            <a:off x="762802" y="3883241"/>
            <a:ext cx="2901999" cy="1477328"/>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dirty="0">
                <a:solidFill>
                  <a:srgbClr val="94A3B8"/>
                </a:solidFill>
                <a:latin typeface="Inter"/>
                <a:ea typeface="Inter"/>
                <a:cs typeface="Inter"/>
                <a:sym typeface="Inter"/>
              </a:rPr>
              <a:t>Go beyond binary detection ("Bullying" vs "Not") to identify specific types: Racism, </a:t>
            </a:r>
            <a:r>
              <a:rPr lang="tr-TR" sz="1500" dirty="0" err="1" smtClean="0">
                <a:solidFill>
                  <a:srgbClr val="94A3B8"/>
                </a:solidFill>
                <a:latin typeface="Inter"/>
                <a:ea typeface="Inter"/>
                <a:cs typeface="Inter"/>
                <a:sym typeface="Inter"/>
              </a:rPr>
              <a:t>Gender</a:t>
            </a:r>
            <a:r>
              <a:rPr lang="en-US" sz="1500" b="0" i="0" u="none" strike="noStrike" cap="none" dirty="0" smtClean="0">
                <a:solidFill>
                  <a:srgbClr val="94A3B8"/>
                </a:solidFill>
                <a:latin typeface="Inter"/>
                <a:ea typeface="Inter"/>
                <a:cs typeface="Inter"/>
                <a:sym typeface="Inter"/>
              </a:rPr>
              <a:t>, </a:t>
            </a:r>
            <a:r>
              <a:rPr lang="en-US" sz="1500" b="0" i="0" u="none" strike="noStrike" cap="none" dirty="0">
                <a:solidFill>
                  <a:srgbClr val="94A3B8"/>
                </a:solidFill>
                <a:latin typeface="Inter"/>
                <a:ea typeface="Inter"/>
                <a:cs typeface="Inter"/>
                <a:sym typeface="Inter"/>
              </a:rPr>
              <a:t>Religion, etc.</a:t>
            </a:r>
            <a:endParaRPr dirty="0"/>
          </a:p>
        </p:txBody>
      </p:sp>
      <p:pic>
        <p:nvPicPr>
          <p:cNvPr id="122" name="Google Shape;122;p15" descr="image.png"/>
          <p:cNvPicPr preferRelativeResize="0"/>
          <p:nvPr/>
        </p:nvPicPr>
        <p:blipFill rotWithShape="1">
          <a:blip r:embed="rId6">
            <a:alphaModFix/>
          </a:blip>
          <a:srcRect/>
          <a:stretch/>
        </p:blipFill>
        <p:spPr>
          <a:xfrm>
            <a:off x="1956626" y="2172486"/>
            <a:ext cx="514350" cy="457200"/>
          </a:xfrm>
          <a:prstGeom prst="rect">
            <a:avLst/>
          </a:prstGeom>
          <a:noFill/>
          <a:ln>
            <a:noFill/>
          </a:ln>
        </p:spPr>
      </p:pic>
      <p:sp>
        <p:nvSpPr>
          <p:cNvPr id="125" name="Google Shape;125;p15"/>
          <p:cNvSpPr/>
          <p:nvPr/>
        </p:nvSpPr>
        <p:spPr>
          <a:xfrm>
            <a:off x="571500" y="1323975"/>
            <a:ext cx="11049000" cy="1905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 name="Resim 1"/>
          <p:cNvPicPr>
            <a:picLocks noChangeAspect="1"/>
          </p:cNvPicPr>
          <p:nvPr/>
        </p:nvPicPr>
        <p:blipFill>
          <a:blip r:embed="rId7"/>
          <a:stretch>
            <a:fillRect/>
          </a:stretch>
        </p:blipFill>
        <p:spPr>
          <a:xfrm>
            <a:off x="4365649" y="1654391"/>
            <a:ext cx="7524750" cy="4457700"/>
          </a:xfrm>
          <a:prstGeom prst="rect">
            <a:avLst/>
          </a:prstGeom>
        </p:spPr>
      </p:pic>
      <p:sp>
        <p:nvSpPr>
          <p:cNvPr id="3" name="Dikdörtgen 2"/>
          <p:cNvSpPr/>
          <p:nvPr/>
        </p:nvSpPr>
        <p:spPr>
          <a:xfrm>
            <a:off x="518884" y="566951"/>
            <a:ext cx="4328429" cy="646331"/>
          </a:xfrm>
          <a:prstGeom prst="rect">
            <a:avLst/>
          </a:prstGeom>
        </p:spPr>
        <p:txBody>
          <a:bodyPr wrap="none">
            <a:spAutoFit/>
          </a:bodyPr>
          <a:lstStyle/>
          <a:p>
            <a:pPr lvl="0"/>
            <a:r>
              <a:rPr lang="en-US" sz="3600" b="1" dirty="0">
                <a:solidFill>
                  <a:srgbClr val="38BDF8"/>
                </a:solidFill>
                <a:latin typeface="Inter"/>
                <a:ea typeface="Inter"/>
                <a:cs typeface="Inter"/>
                <a:sym typeface="Inter"/>
              </a:rPr>
              <a:t>Project Objectives</a:t>
            </a:r>
            <a:endParaRPr lang="en-US" sz="3600" dirty="0"/>
          </a:p>
        </p:txBody>
      </p:sp>
    </p:spTree>
    <p:extLst>
      <p:ext uri="{BB962C8B-B14F-4D97-AF65-F5344CB8AC3E}">
        <p14:creationId xmlns:p14="http://schemas.microsoft.com/office/powerpoint/2010/main" val="280539210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51"/>
        <p:cNvGrpSpPr/>
        <p:nvPr/>
      </p:nvGrpSpPr>
      <p:grpSpPr>
        <a:xfrm>
          <a:off x="0" y="0"/>
          <a:ext cx="0" cy="0"/>
          <a:chOff x="0" y="0"/>
          <a:chExt cx="0" cy="0"/>
        </a:xfrm>
      </p:grpSpPr>
      <p:sp>
        <p:nvSpPr>
          <p:cNvPr id="155" name="Google Shape;155;p17"/>
          <p:cNvSpPr txBox="1"/>
          <p:nvPr/>
        </p:nvSpPr>
        <p:spPr>
          <a:xfrm>
            <a:off x="213065" y="2052637"/>
            <a:ext cx="5429546"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CBD5E1"/>
                </a:solidFill>
                <a:latin typeface="Inter"/>
                <a:ea typeface="Inter"/>
                <a:cs typeface="Inter"/>
                <a:sym typeface="Inter"/>
              </a:rPr>
              <a:t>Traditional Pipeline</a:t>
            </a:r>
            <a:endParaRPr dirty="0"/>
          </a:p>
        </p:txBody>
      </p:sp>
      <p:sp>
        <p:nvSpPr>
          <p:cNvPr id="156" name="Google Shape;156;p17"/>
          <p:cNvSpPr txBox="1"/>
          <p:nvPr/>
        </p:nvSpPr>
        <p:spPr>
          <a:xfrm>
            <a:off x="213064" y="2566987"/>
            <a:ext cx="5206661"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94A3B8"/>
                </a:solidFill>
                <a:latin typeface="Inter"/>
                <a:ea typeface="Inter"/>
                <a:cs typeface="Inter"/>
                <a:sym typeface="Inter"/>
              </a:rPr>
              <a:t>Used for SVM &amp; Logistic Regression. Heavy cleaning to reduce data sparsity.</a:t>
            </a:r>
            <a:endParaRPr dirty="0"/>
          </a:p>
        </p:txBody>
      </p:sp>
      <p:sp>
        <p:nvSpPr>
          <p:cNvPr id="160" name="Google Shape;160;p17"/>
          <p:cNvSpPr txBox="1"/>
          <p:nvPr/>
        </p:nvSpPr>
        <p:spPr>
          <a:xfrm>
            <a:off x="825623" y="3367087"/>
            <a:ext cx="4594102" cy="344710"/>
          </a:xfrm>
          <a:prstGeom prst="rect">
            <a:avLst/>
          </a:prstGeom>
          <a:noFill/>
          <a:ln>
            <a:noFill/>
          </a:ln>
        </p:spPr>
        <p:txBody>
          <a:bodyPr spcFirstLastPara="1" wrap="square" lIns="104775" tIns="0" rIns="0" bIns="0" anchor="t" anchorCtr="0">
            <a:spAutoFit/>
          </a:bodyPr>
          <a:lstStyle/>
          <a:p>
            <a:pPr marL="0" marR="0" lvl="0" indent="0" algn="l" rtl="0">
              <a:lnSpc>
                <a:spcPct val="160000"/>
              </a:lnSpc>
              <a:spcBef>
                <a:spcPts val="0"/>
              </a:spcBef>
              <a:spcAft>
                <a:spcPts val="0"/>
              </a:spcAft>
              <a:buNone/>
            </a:pPr>
            <a:r>
              <a:rPr lang="en-US" b="1" i="0" u="none" strike="noStrike" cap="none" dirty="0">
                <a:solidFill>
                  <a:srgbClr val="94A3B8"/>
                </a:solidFill>
                <a:latin typeface="Inter"/>
                <a:ea typeface="Inter"/>
                <a:cs typeface="Inter"/>
                <a:sym typeface="Inter"/>
              </a:rPr>
              <a:t>Noise Removal:</a:t>
            </a:r>
            <a:r>
              <a:rPr lang="en-US" b="0" i="0" u="none" strike="noStrike" cap="none" dirty="0">
                <a:solidFill>
                  <a:srgbClr val="94A3B8"/>
                </a:solidFill>
                <a:latin typeface="Inter"/>
                <a:ea typeface="Inter"/>
                <a:cs typeface="Inter"/>
                <a:sym typeface="Inter"/>
              </a:rPr>
              <a:t> URLs, HTML tags, @mentions.</a:t>
            </a:r>
            <a:endParaRPr dirty="0"/>
          </a:p>
        </p:txBody>
      </p:sp>
      <p:sp>
        <p:nvSpPr>
          <p:cNvPr id="162" name="Google Shape;162;p17"/>
          <p:cNvSpPr txBox="1"/>
          <p:nvPr/>
        </p:nvSpPr>
        <p:spPr>
          <a:xfrm>
            <a:off x="825623" y="3786187"/>
            <a:ext cx="4848225" cy="344710"/>
          </a:xfrm>
          <a:prstGeom prst="rect">
            <a:avLst/>
          </a:prstGeom>
          <a:noFill/>
          <a:ln>
            <a:noFill/>
          </a:ln>
        </p:spPr>
        <p:txBody>
          <a:bodyPr spcFirstLastPara="1" wrap="square" lIns="104775" tIns="0" rIns="0" bIns="0" anchor="t" anchorCtr="0">
            <a:spAutoFit/>
          </a:bodyPr>
          <a:lstStyle/>
          <a:p>
            <a:pPr marL="0" marR="0" lvl="0" indent="0" algn="l" rtl="0">
              <a:lnSpc>
                <a:spcPct val="160000"/>
              </a:lnSpc>
              <a:spcBef>
                <a:spcPts val="0"/>
              </a:spcBef>
              <a:spcAft>
                <a:spcPts val="0"/>
              </a:spcAft>
              <a:buNone/>
            </a:pPr>
            <a:r>
              <a:rPr lang="en-US" b="1" i="0" u="none" strike="noStrike" cap="none" dirty="0">
                <a:solidFill>
                  <a:srgbClr val="94A3B8"/>
                </a:solidFill>
                <a:latin typeface="Inter"/>
                <a:ea typeface="Inter"/>
                <a:cs typeface="Inter"/>
                <a:sym typeface="Inter"/>
              </a:rPr>
              <a:t>Normalization:</a:t>
            </a:r>
            <a:r>
              <a:rPr lang="en-US" b="0" i="0" u="none" strike="noStrike" cap="none" dirty="0">
                <a:solidFill>
                  <a:srgbClr val="94A3B8"/>
                </a:solidFill>
                <a:latin typeface="Inter"/>
                <a:ea typeface="Inter"/>
                <a:cs typeface="Inter"/>
                <a:sym typeface="Inter"/>
              </a:rPr>
              <a:t> Lowercase, expanding contractions.</a:t>
            </a:r>
            <a:endParaRPr dirty="0"/>
          </a:p>
        </p:txBody>
      </p:sp>
      <p:sp>
        <p:nvSpPr>
          <p:cNvPr id="164" name="Google Shape;164;p17"/>
          <p:cNvSpPr txBox="1"/>
          <p:nvPr/>
        </p:nvSpPr>
        <p:spPr>
          <a:xfrm>
            <a:off x="825623" y="4206906"/>
            <a:ext cx="4076700" cy="689420"/>
          </a:xfrm>
          <a:prstGeom prst="rect">
            <a:avLst/>
          </a:prstGeom>
          <a:noFill/>
          <a:ln>
            <a:noFill/>
          </a:ln>
        </p:spPr>
        <p:txBody>
          <a:bodyPr spcFirstLastPara="1" wrap="square" lIns="104775" tIns="0" rIns="0" bIns="0" anchor="t" anchorCtr="0">
            <a:spAutoFit/>
          </a:bodyPr>
          <a:lstStyle/>
          <a:p>
            <a:pPr marL="0" marR="0" lvl="0" indent="0" algn="l" rtl="0">
              <a:lnSpc>
                <a:spcPct val="160000"/>
              </a:lnSpc>
              <a:spcBef>
                <a:spcPts val="0"/>
              </a:spcBef>
              <a:spcAft>
                <a:spcPts val="0"/>
              </a:spcAft>
              <a:buNone/>
            </a:pPr>
            <a:r>
              <a:rPr lang="en-US" b="1" i="0" u="none" strike="noStrike" cap="none" dirty="0">
                <a:solidFill>
                  <a:srgbClr val="94A3B8"/>
                </a:solidFill>
                <a:latin typeface="Inter"/>
                <a:ea typeface="Inter"/>
                <a:cs typeface="Inter"/>
                <a:sym typeface="Inter"/>
              </a:rPr>
              <a:t>Lemmatization:</a:t>
            </a:r>
            <a:r>
              <a:rPr lang="en-US" b="0" i="0" u="none" strike="noStrike" cap="none" dirty="0">
                <a:solidFill>
                  <a:srgbClr val="94A3B8"/>
                </a:solidFill>
                <a:latin typeface="Inter"/>
                <a:ea typeface="Inter"/>
                <a:cs typeface="Inter"/>
                <a:sym typeface="Inter"/>
              </a:rPr>
              <a:t> Reducing words to roots (e.g., "running" → "run").</a:t>
            </a:r>
            <a:endParaRPr dirty="0"/>
          </a:p>
        </p:txBody>
      </p:sp>
      <p:sp>
        <p:nvSpPr>
          <p:cNvPr id="166" name="Google Shape;166;p17"/>
          <p:cNvSpPr txBox="1"/>
          <p:nvPr/>
        </p:nvSpPr>
        <p:spPr>
          <a:xfrm>
            <a:off x="825623" y="4972335"/>
            <a:ext cx="4076700" cy="1034129"/>
          </a:xfrm>
          <a:prstGeom prst="rect">
            <a:avLst/>
          </a:prstGeom>
          <a:noFill/>
          <a:ln>
            <a:noFill/>
          </a:ln>
        </p:spPr>
        <p:txBody>
          <a:bodyPr spcFirstLastPara="1" wrap="square" lIns="104775" tIns="0" rIns="0" bIns="0" anchor="t" anchorCtr="0">
            <a:spAutoFit/>
          </a:bodyPr>
          <a:lstStyle/>
          <a:p>
            <a:pPr marL="0" marR="0" lvl="0" indent="0" algn="l" rtl="0">
              <a:lnSpc>
                <a:spcPct val="160000"/>
              </a:lnSpc>
              <a:spcBef>
                <a:spcPts val="0"/>
              </a:spcBef>
              <a:spcAft>
                <a:spcPts val="0"/>
              </a:spcAft>
              <a:buNone/>
            </a:pPr>
            <a:r>
              <a:rPr lang="en-US" b="1" i="0" u="none" strike="noStrike" cap="none" dirty="0" err="1">
                <a:solidFill>
                  <a:srgbClr val="94A3B8"/>
                </a:solidFill>
                <a:latin typeface="Inter"/>
                <a:ea typeface="Inter"/>
                <a:cs typeface="Inter"/>
                <a:sym typeface="Inter"/>
              </a:rPr>
              <a:t>Stopword</a:t>
            </a:r>
            <a:r>
              <a:rPr lang="en-US" b="1" i="0" u="none" strike="noStrike" cap="none" dirty="0">
                <a:solidFill>
                  <a:srgbClr val="94A3B8"/>
                </a:solidFill>
                <a:latin typeface="Inter"/>
                <a:ea typeface="Inter"/>
                <a:cs typeface="Inter"/>
                <a:sym typeface="Inter"/>
              </a:rPr>
              <a:t> Removal:</a:t>
            </a:r>
            <a:r>
              <a:rPr lang="en-US" b="0" i="0" u="none" strike="noStrike" cap="none" dirty="0">
                <a:solidFill>
                  <a:srgbClr val="94A3B8"/>
                </a:solidFill>
                <a:latin typeface="Inter"/>
                <a:ea typeface="Inter"/>
                <a:cs typeface="Inter"/>
                <a:sym typeface="Inter"/>
              </a:rPr>
              <a:t> Removing common words</a:t>
            </a:r>
            <a:r>
              <a:rPr lang="en-US" b="0" i="0" u="none" strike="noStrike" cap="none" dirty="0" smtClean="0">
                <a:solidFill>
                  <a:srgbClr val="94A3B8"/>
                </a:solidFill>
                <a:latin typeface="Inter"/>
                <a:ea typeface="Inter"/>
                <a:cs typeface="Inter"/>
                <a:sym typeface="Inter"/>
              </a:rPr>
              <a:t>.</a:t>
            </a:r>
            <a:endParaRPr lang="tr-TR" b="0" i="0" u="none" strike="noStrike" cap="none" dirty="0" smtClean="0">
              <a:solidFill>
                <a:srgbClr val="94A3B8"/>
              </a:solidFill>
              <a:latin typeface="Inter"/>
              <a:ea typeface="Inter"/>
              <a:cs typeface="Inter"/>
              <a:sym typeface="Inter"/>
            </a:endParaRPr>
          </a:p>
          <a:p>
            <a:pPr marL="0" marR="0" lvl="0" indent="0" algn="l" rtl="0">
              <a:lnSpc>
                <a:spcPct val="160000"/>
              </a:lnSpc>
              <a:spcBef>
                <a:spcPts val="0"/>
              </a:spcBef>
              <a:spcAft>
                <a:spcPts val="0"/>
              </a:spcAft>
              <a:buNone/>
            </a:pPr>
            <a:endParaRPr dirty="0"/>
          </a:p>
        </p:txBody>
      </p:sp>
      <p:sp>
        <p:nvSpPr>
          <p:cNvPr id="175" name="Google Shape;175;p17"/>
          <p:cNvSpPr txBox="1"/>
          <p:nvPr/>
        </p:nvSpPr>
        <p:spPr>
          <a:xfrm>
            <a:off x="571500" y="509587"/>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38BDF8"/>
                </a:solidFill>
                <a:latin typeface="Inter"/>
                <a:ea typeface="Inter"/>
                <a:cs typeface="Inter"/>
                <a:sym typeface="Inter"/>
              </a:rPr>
              <a:t>Methodology: Text Preprocessing</a:t>
            </a:r>
            <a:endParaRPr dirty="0"/>
          </a:p>
        </p:txBody>
      </p:sp>
      <p:sp>
        <p:nvSpPr>
          <p:cNvPr id="176" name="Google Shape;176;p17"/>
          <p:cNvSpPr/>
          <p:nvPr/>
        </p:nvSpPr>
        <p:spPr>
          <a:xfrm>
            <a:off x="571500" y="1262062"/>
            <a:ext cx="11049000" cy="1905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Resim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33135" y="1298259"/>
            <a:ext cx="5910031" cy="5414006"/>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pic>
        <p:nvPicPr>
          <p:cNvPr id="282" name="Google Shape;282;p24" descr="image.png"/>
          <p:cNvPicPr preferRelativeResize="0"/>
          <p:nvPr/>
        </p:nvPicPr>
        <p:blipFill rotWithShape="1">
          <a:blip r:embed="rId3">
            <a:alphaModFix/>
          </a:blip>
          <a:srcRect/>
          <a:stretch/>
        </p:blipFill>
        <p:spPr>
          <a:xfrm>
            <a:off x="0" y="-31031"/>
            <a:ext cx="12192000" cy="6858000"/>
          </a:xfrm>
          <a:prstGeom prst="rect">
            <a:avLst/>
          </a:prstGeom>
          <a:noFill/>
          <a:ln>
            <a:noFill/>
          </a:ln>
        </p:spPr>
      </p:pic>
      <p:sp>
        <p:nvSpPr>
          <p:cNvPr id="2" name="Dikdörtgen 1"/>
          <p:cNvSpPr/>
          <p:nvPr/>
        </p:nvSpPr>
        <p:spPr>
          <a:xfrm>
            <a:off x="555097" y="620689"/>
            <a:ext cx="7866256" cy="646331"/>
          </a:xfrm>
          <a:prstGeom prst="rect">
            <a:avLst/>
          </a:prstGeom>
        </p:spPr>
        <p:txBody>
          <a:bodyPr wrap="none">
            <a:spAutoFit/>
          </a:bodyPr>
          <a:lstStyle/>
          <a:p>
            <a:pPr lvl="0"/>
            <a:r>
              <a:rPr lang="en-US" sz="3600" b="1" dirty="0">
                <a:solidFill>
                  <a:srgbClr val="38BDF8"/>
                </a:solidFill>
                <a:latin typeface="Inter"/>
                <a:ea typeface="Inter"/>
                <a:cs typeface="Inter"/>
                <a:sym typeface="Inter"/>
              </a:rPr>
              <a:t>Methodology: Text Preprocessing</a:t>
            </a:r>
            <a:endParaRPr lang="en-US" sz="3600" dirty="0"/>
          </a:p>
        </p:txBody>
      </p:sp>
      <p:sp>
        <p:nvSpPr>
          <p:cNvPr id="16" name="Google Shape;157;p17"/>
          <p:cNvSpPr txBox="1"/>
          <p:nvPr/>
        </p:nvSpPr>
        <p:spPr>
          <a:xfrm>
            <a:off x="645740" y="1671385"/>
            <a:ext cx="4680585"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CBD5E1"/>
                </a:solidFill>
                <a:latin typeface="Inter"/>
                <a:ea typeface="Inter"/>
                <a:cs typeface="Inter"/>
                <a:sym typeface="Inter"/>
              </a:rPr>
              <a:t>BERT Pipeline</a:t>
            </a:r>
            <a:endParaRPr dirty="0"/>
          </a:p>
        </p:txBody>
      </p:sp>
      <p:sp>
        <p:nvSpPr>
          <p:cNvPr id="17" name="Google Shape;158;p17"/>
          <p:cNvSpPr txBox="1"/>
          <p:nvPr/>
        </p:nvSpPr>
        <p:spPr>
          <a:xfrm>
            <a:off x="645740" y="2116841"/>
            <a:ext cx="44577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94A3B8"/>
                </a:solidFill>
                <a:latin typeface="Inter"/>
                <a:ea typeface="Inter"/>
                <a:cs typeface="Inter"/>
                <a:sym typeface="Inter"/>
              </a:rPr>
              <a:t>Used for </a:t>
            </a:r>
            <a:r>
              <a:rPr lang="en-US" sz="1500" b="0" i="0" u="none" strike="noStrike" cap="none" dirty="0" err="1">
                <a:solidFill>
                  <a:srgbClr val="94A3B8"/>
                </a:solidFill>
                <a:latin typeface="Inter"/>
                <a:ea typeface="Inter"/>
                <a:cs typeface="Inter"/>
                <a:sym typeface="Inter"/>
              </a:rPr>
              <a:t>DistilBERT</a:t>
            </a:r>
            <a:r>
              <a:rPr lang="en-US" sz="1500" b="0" i="0" u="none" strike="noStrike" cap="none" dirty="0">
                <a:solidFill>
                  <a:srgbClr val="94A3B8"/>
                </a:solidFill>
                <a:latin typeface="Inter"/>
                <a:ea typeface="Inter"/>
                <a:cs typeface="Inter"/>
                <a:sym typeface="Inter"/>
              </a:rPr>
              <a:t>. Minimalist approach to preserve context.</a:t>
            </a:r>
            <a:endParaRPr dirty="0"/>
          </a:p>
        </p:txBody>
      </p:sp>
      <p:sp>
        <p:nvSpPr>
          <p:cNvPr id="19" name="Google Shape;168;p17"/>
          <p:cNvSpPr txBox="1"/>
          <p:nvPr/>
        </p:nvSpPr>
        <p:spPr>
          <a:xfrm>
            <a:off x="1249625" y="5197129"/>
            <a:ext cx="4076700" cy="609600"/>
          </a:xfrm>
          <a:prstGeom prst="rect">
            <a:avLst/>
          </a:prstGeom>
          <a:noFill/>
          <a:ln>
            <a:noFill/>
          </a:ln>
        </p:spPr>
        <p:txBody>
          <a:bodyPr spcFirstLastPara="1" wrap="square" lIns="104775"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94A3B8"/>
                </a:solidFill>
                <a:latin typeface="Inter"/>
                <a:ea typeface="Inter"/>
                <a:cs typeface="Inter"/>
                <a:sym typeface="Inter"/>
              </a:rPr>
              <a:t>Context Preservation:</a:t>
            </a:r>
            <a:r>
              <a:rPr lang="en-US" sz="1500" b="0" i="0" u="none" strike="noStrike" cap="none" dirty="0">
                <a:solidFill>
                  <a:srgbClr val="94A3B8"/>
                </a:solidFill>
                <a:latin typeface="Inter"/>
                <a:ea typeface="Inter"/>
                <a:cs typeface="Inter"/>
                <a:sym typeface="Inter"/>
              </a:rPr>
              <a:t> Punctuation kept for semantic meaning.</a:t>
            </a:r>
            <a:endParaRPr dirty="0"/>
          </a:p>
        </p:txBody>
      </p:sp>
      <p:sp>
        <p:nvSpPr>
          <p:cNvPr id="21" name="Google Shape;170;p17"/>
          <p:cNvSpPr txBox="1"/>
          <p:nvPr/>
        </p:nvSpPr>
        <p:spPr>
          <a:xfrm>
            <a:off x="1249625" y="3012484"/>
            <a:ext cx="4076700" cy="609600"/>
          </a:xfrm>
          <a:prstGeom prst="rect">
            <a:avLst/>
          </a:prstGeom>
          <a:noFill/>
          <a:ln>
            <a:noFill/>
          </a:ln>
        </p:spPr>
        <p:txBody>
          <a:bodyPr spcFirstLastPara="1" wrap="square" lIns="104775"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err="1">
                <a:solidFill>
                  <a:srgbClr val="94A3B8"/>
                </a:solidFill>
                <a:latin typeface="Inter"/>
                <a:ea typeface="Inter"/>
                <a:cs typeface="Inter"/>
                <a:sym typeface="Inter"/>
              </a:rPr>
              <a:t>Stopwords</a:t>
            </a:r>
            <a:r>
              <a:rPr lang="en-US" sz="1500" b="1" i="0" u="none" strike="noStrike" cap="none" dirty="0">
                <a:solidFill>
                  <a:srgbClr val="94A3B8"/>
                </a:solidFill>
                <a:latin typeface="Inter"/>
                <a:ea typeface="Inter"/>
                <a:cs typeface="Inter"/>
                <a:sym typeface="Inter"/>
              </a:rPr>
              <a:t> Retained:</a:t>
            </a:r>
            <a:r>
              <a:rPr lang="en-US" sz="1500" b="0" i="0" u="none" strike="noStrike" cap="none" dirty="0">
                <a:solidFill>
                  <a:srgbClr val="94A3B8"/>
                </a:solidFill>
                <a:latin typeface="Inter"/>
                <a:ea typeface="Inter"/>
                <a:cs typeface="Inter"/>
                <a:sym typeface="Inter"/>
              </a:rPr>
              <a:t> Crucial for understanding sentence structure.</a:t>
            </a:r>
            <a:endParaRPr dirty="0"/>
          </a:p>
        </p:txBody>
      </p:sp>
      <p:sp>
        <p:nvSpPr>
          <p:cNvPr id="23" name="Google Shape;172;p17"/>
          <p:cNvSpPr txBox="1"/>
          <p:nvPr/>
        </p:nvSpPr>
        <p:spPr>
          <a:xfrm>
            <a:off x="1249625" y="3740699"/>
            <a:ext cx="4076700" cy="609600"/>
          </a:xfrm>
          <a:prstGeom prst="rect">
            <a:avLst/>
          </a:prstGeom>
          <a:noFill/>
          <a:ln>
            <a:noFill/>
          </a:ln>
        </p:spPr>
        <p:txBody>
          <a:bodyPr spcFirstLastPara="1" wrap="square" lIns="104775"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94A3B8"/>
                </a:solidFill>
                <a:latin typeface="Inter"/>
                <a:ea typeface="Inter"/>
                <a:cs typeface="Inter"/>
                <a:sym typeface="Inter"/>
              </a:rPr>
              <a:t>Tokenization:</a:t>
            </a:r>
            <a:r>
              <a:rPr lang="en-US" sz="1500" b="0" i="0" u="none" strike="noStrike" cap="none" dirty="0">
                <a:solidFill>
                  <a:srgbClr val="94A3B8"/>
                </a:solidFill>
                <a:latin typeface="Inter"/>
                <a:ea typeface="Inter"/>
                <a:cs typeface="Inter"/>
                <a:sym typeface="Inter"/>
              </a:rPr>
              <a:t> Using </a:t>
            </a:r>
            <a:r>
              <a:rPr lang="en-US" sz="1500" b="0" i="0" u="none" strike="noStrike" cap="none" dirty="0" err="1">
                <a:solidFill>
                  <a:srgbClr val="94A3B8"/>
                </a:solidFill>
                <a:latin typeface="Inter"/>
                <a:ea typeface="Inter"/>
                <a:cs typeface="Inter"/>
                <a:sym typeface="Inter"/>
              </a:rPr>
              <a:t>WordPiece</a:t>
            </a:r>
            <a:r>
              <a:rPr lang="en-US" sz="1500" b="0" i="0" u="none" strike="noStrike" cap="none" dirty="0">
                <a:solidFill>
                  <a:srgbClr val="94A3B8"/>
                </a:solidFill>
                <a:latin typeface="Inter"/>
                <a:ea typeface="Inter"/>
                <a:cs typeface="Inter"/>
                <a:sym typeface="Inter"/>
              </a:rPr>
              <a:t> tokenizer specific to BERT.</a:t>
            </a:r>
            <a:endParaRPr dirty="0"/>
          </a:p>
        </p:txBody>
      </p:sp>
      <p:sp>
        <p:nvSpPr>
          <p:cNvPr id="25" name="Google Shape;174;p17"/>
          <p:cNvSpPr txBox="1"/>
          <p:nvPr/>
        </p:nvSpPr>
        <p:spPr>
          <a:xfrm>
            <a:off x="1249625" y="4468914"/>
            <a:ext cx="4076700" cy="609600"/>
          </a:xfrm>
          <a:prstGeom prst="rect">
            <a:avLst/>
          </a:prstGeom>
          <a:noFill/>
          <a:ln>
            <a:noFill/>
          </a:ln>
        </p:spPr>
        <p:txBody>
          <a:bodyPr spcFirstLastPara="1" wrap="square" lIns="104775"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94A3B8"/>
                </a:solidFill>
                <a:latin typeface="Inter"/>
                <a:ea typeface="Inter"/>
                <a:cs typeface="Inter"/>
                <a:sym typeface="Inter"/>
              </a:rPr>
              <a:t>Formatting:</a:t>
            </a:r>
            <a:r>
              <a:rPr lang="en-US" sz="1500" b="0" i="0" u="none" strike="noStrike" cap="none" dirty="0">
                <a:solidFill>
                  <a:srgbClr val="94A3B8"/>
                </a:solidFill>
                <a:latin typeface="Inter"/>
                <a:ea typeface="Inter"/>
                <a:cs typeface="Inter"/>
                <a:sym typeface="Inter"/>
              </a:rPr>
              <a:t> Simple lowercasing and URL removal.</a:t>
            </a:r>
            <a:endParaRPr dirty="0"/>
          </a:p>
        </p:txBody>
      </p:sp>
      <p:pic>
        <p:nvPicPr>
          <p:cNvPr id="3" name="Resim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01902" y="2434493"/>
            <a:ext cx="6494947" cy="2762636"/>
          </a:xfrm>
          <a:prstGeom prst="rect">
            <a:avLst/>
          </a:prstGeom>
        </p:spPr>
      </p:pic>
    </p:spTree>
    <p:extLst>
      <p:ext uri="{BB962C8B-B14F-4D97-AF65-F5344CB8AC3E}">
        <p14:creationId xmlns:p14="http://schemas.microsoft.com/office/powerpoint/2010/main" val="265943537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07"/>
        <p:cNvGrpSpPr/>
        <p:nvPr/>
      </p:nvGrpSpPr>
      <p:grpSpPr>
        <a:xfrm>
          <a:off x="0" y="0"/>
          <a:ext cx="0" cy="0"/>
          <a:chOff x="0" y="0"/>
          <a:chExt cx="0" cy="0"/>
        </a:xfrm>
      </p:grpSpPr>
      <p:sp>
        <p:nvSpPr>
          <p:cNvPr id="124" name="Google Shape;124;p15"/>
          <p:cNvSpPr txBox="1"/>
          <p:nvPr/>
        </p:nvSpPr>
        <p:spPr>
          <a:xfrm>
            <a:off x="571500" y="571500"/>
            <a:ext cx="11601450" cy="553998"/>
          </a:xfrm>
          <a:prstGeom prst="rect">
            <a:avLst/>
          </a:prstGeom>
          <a:noFill/>
          <a:ln>
            <a:noFill/>
          </a:ln>
        </p:spPr>
        <p:txBody>
          <a:bodyPr spcFirstLastPara="1" wrap="square" lIns="0" tIns="0" rIns="0" bIns="0" anchor="t" anchorCtr="0">
            <a:spAutoFit/>
          </a:bodyPr>
          <a:lstStyle/>
          <a:p>
            <a:pPr lvl="0"/>
            <a:r>
              <a:rPr lang="tr-TR" sz="3600" b="1" dirty="0">
                <a:solidFill>
                  <a:srgbClr val="00B0F0"/>
                </a:solidFill>
              </a:rPr>
              <a:t>Model </a:t>
            </a:r>
            <a:r>
              <a:rPr lang="tr-TR" sz="3600" b="1" dirty="0" err="1">
                <a:solidFill>
                  <a:srgbClr val="00B0F0"/>
                </a:solidFill>
              </a:rPr>
              <a:t>Configuration</a:t>
            </a:r>
            <a:r>
              <a:rPr lang="tr-TR" sz="3600" b="1" dirty="0">
                <a:solidFill>
                  <a:srgbClr val="00B0F0"/>
                </a:solidFill>
              </a:rPr>
              <a:t> &amp; Training </a:t>
            </a:r>
            <a:r>
              <a:rPr lang="tr-TR" sz="3600" b="1" dirty="0" err="1">
                <a:solidFill>
                  <a:srgbClr val="00B0F0"/>
                </a:solidFill>
              </a:rPr>
              <a:t>Strategy</a:t>
            </a:r>
            <a:endParaRPr dirty="0">
              <a:solidFill>
                <a:srgbClr val="00B0F0"/>
              </a:solidFill>
            </a:endParaRPr>
          </a:p>
        </p:txBody>
      </p:sp>
      <p:sp>
        <p:nvSpPr>
          <p:cNvPr id="125" name="Google Shape;125;p15"/>
          <p:cNvSpPr/>
          <p:nvPr/>
        </p:nvSpPr>
        <p:spPr>
          <a:xfrm>
            <a:off x="571500" y="1323975"/>
            <a:ext cx="11049000" cy="1905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Metin kutusu 3"/>
          <p:cNvSpPr txBox="1"/>
          <p:nvPr/>
        </p:nvSpPr>
        <p:spPr>
          <a:xfrm>
            <a:off x="234149" y="1663860"/>
            <a:ext cx="4257952" cy="3093154"/>
          </a:xfrm>
          <a:prstGeom prst="rect">
            <a:avLst/>
          </a:prstGeom>
          <a:noFill/>
        </p:spPr>
        <p:txBody>
          <a:bodyPr wrap="square" rtlCol="0">
            <a:spAutoFit/>
          </a:bodyPr>
          <a:lstStyle/>
          <a:p>
            <a:r>
              <a:rPr lang="en-US" sz="1500" b="1" dirty="0">
                <a:solidFill>
                  <a:schemeClr val="bg1"/>
                </a:solidFill>
              </a:rPr>
              <a:t>Implementation </a:t>
            </a:r>
            <a:r>
              <a:rPr lang="en-US" sz="1500" b="1" dirty="0" smtClean="0">
                <a:solidFill>
                  <a:schemeClr val="bg1"/>
                </a:solidFill>
              </a:rPr>
              <a:t>Framework</a:t>
            </a:r>
            <a:endParaRPr lang="tr-TR" sz="1500" b="1" dirty="0" smtClean="0">
              <a:solidFill>
                <a:schemeClr val="bg1"/>
              </a:solidFill>
            </a:endParaRPr>
          </a:p>
          <a:p>
            <a:endParaRPr lang="en-US" sz="1500" dirty="0">
              <a:solidFill>
                <a:schemeClr val="bg1"/>
              </a:solidFill>
            </a:endParaRPr>
          </a:p>
          <a:p>
            <a:r>
              <a:rPr lang="en-US" sz="1500" b="1" dirty="0">
                <a:solidFill>
                  <a:schemeClr val="bg1"/>
                </a:solidFill>
              </a:rPr>
              <a:t>Platform:</a:t>
            </a:r>
            <a:r>
              <a:rPr lang="en-US" sz="1500" dirty="0">
                <a:solidFill>
                  <a:schemeClr val="bg1"/>
                </a:solidFill>
              </a:rPr>
              <a:t> Hugging Face Ecosystem (Transformers Library</a:t>
            </a:r>
            <a:r>
              <a:rPr lang="en-US" sz="1500" dirty="0" smtClean="0">
                <a:solidFill>
                  <a:schemeClr val="bg1"/>
                </a:solidFill>
              </a:rPr>
              <a:t>).</a:t>
            </a:r>
            <a:endParaRPr lang="tr-TR" sz="1500" dirty="0" smtClean="0">
              <a:solidFill>
                <a:schemeClr val="bg1"/>
              </a:solidFill>
            </a:endParaRPr>
          </a:p>
          <a:p>
            <a:endParaRPr lang="en-US" sz="1500" dirty="0">
              <a:solidFill>
                <a:schemeClr val="bg1"/>
              </a:solidFill>
            </a:endParaRPr>
          </a:p>
          <a:p>
            <a:r>
              <a:rPr lang="en-US" sz="1500" b="1" dirty="0">
                <a:solidFill>
                  <a:schemeClr val="bg1"/>
                </a:solidFill>
              </a:rPr>
              <a:t>Base Model</a:t>
            </a:r>
            <a:r>
              <a:rPr lang="en-US" sz="1500" b="1" dirty="0" smtClean="0">
                <a:solidFill>
                  <a:schemeClr val="bg1"/>
                </a:solidFill>
              </a:rPr>
              <a:t>:</a:t>
            </a:r>
            <a:r>
              <a:rPr lang="tr-TR" sz="1500" b="1" dirty="0" smtClean="0">
                <a:solidFill>
                  <a:schemeClr val="bg1"/>
                </a:solidFill>
              </a:rPr>
              <a:t> </a:t>
            </a:r>
            <a:r>
              <a:rPr lang="tr-TR" sz="1500" dirty="0" err="1" smtClean="0">
                <a:solidFill>
                  <a:schemeClr val="bg1"/>
                </a:solidFill>
              </a:rPr>
              <a:t>distilbert-base-uncased</a:t>
            </a:r>
            <a:endParaRPr lang="tr-TR" sz="1500" dirty="0" smtClean="0">
              <a:solidFill>
                <a:schemeClr val="bg1"/>
              </a:solidFill>
            </a:endParaRPr>
          </a:p>
          <a:p>
            <a:endParaRPr lang="en-US" sz="1500" dirty="0">
              <a:solidFill>
                <a:schemeClr val="bg1"/>
              </a:solidFill>
            </a:endParaRPr>
          </a:p>
          <a:p>
            <a:r>
              <a:rPr lang="en-US" sz="1500" b="1" dirty="0">
                <a:solidFill>
                  <a:schemeClr val="bg1"/>
                </a:solidFill>
              </a:rPr>
              <a:t>Optimization:</a:t>
            </a:r>
            <a:r>
              <a:rPr lang="en-US" sz="1500" dirty="0">
                <a:solidFill>
                  <a:schemeClr val="bg1"/>
                </a:solidFill>
              </a:rPr>
              <a:t> Mixed Precision (FP16) enabled for faster training and reduced memory usage</a:t>
            </a:r>
            <a:r>
              <a:rPr lang="en-US" sz="1500" dirty="0" smtClean="0">
                <a:solidFill>
                  <a:schemeClr val="bg1"/>
                </a:solidFill>
              </a:rPr>
              <a:t>.</a:t>
            </a:r>
            <a:endParaRPr lang="tr-TR" sz="1500" dirty="0" smtClean="0">
              <a:solidFill>
                <a:schemeClr val="bg1"/>
              </a:solidFill>
            </a:endParaRPr>
          </a:p>
          <a:p>
            <a:endParaRPr lang="tr-TR" sz="1500" dirty="0" smtClean="0">
              <a:solidFill>
                <a:schemeClr val="bg1"/>
              </a:solidFill>
            </a:endParaRPr>
          </a:p>
          <a:p>
            <a:r>
              <a:rPr lang="en-US" sz="1500" b="1" dirty="0">
                <a:solidFill>
                  <a:schemeClr val="bg1"/>
                </a:solidFill>
              </a:rPr>
              <a:t>Strategy:</a:t>
            </a:r>
            <a:r>
              <a:rPr lang="en-US" sz="1500" dirty="0">
                <a:solidFill>
                  <a:schemeClr val="bg1"/>
                </a:solidFill>
              </a:rPr>
              <a:t> The model is fine-tuned on the training set, and the checkpoint with the highest validation accuracy is selected.</a:t>
            </a:r>
            <a:endParaRPr lang="tr-TR" sz="1500" dirty="0">
              <a:solidFill>
                <a:schemeClr val="bg1"/>
              </a:solidFill>
            </a:endParaRPr>
          </a:p>
        </p:txBody>
      </p:sp>
      <p:graphicFrame>
        <p:nvGraphicFramePr>
          <p:cNvPr id="5" name="Tablo 4"/>
          <p:cNvGraphicFramePr>
            <a:graphicFrameLocks noGrp="1"/>
          </p:cNvGraphicFramePr>
          <p:nvPr>
            <p:extLst>
              <p:ext uri="{D42A27DB-BD31-4B8C-83A1-F6EECF244321}">
                <p14:modId xmlns:p14="http://schemas.microsoft.com/office/powerpoint/2010/main" val="2179821770"/>
              </p:ext>
            </p:extLst>
          </p:nvPr>
        </p:nvGraphicFramePr>
        <p:xfrm>
          <a:off x="5211192" y="1663860"/>
          <a:ext cx="3326340" cy="2835189"/>
        </p:xfrm>
        <a:graphic>
          <a:graphicData uri="http://schemas.openxmlformats.org/drawingml/2006/table">
            <a:tbl>
              <a:tblPr/>
              <a:tblGrid>
                <a:gridCol w="1663170">
                  <a:extLst>
                    <a:ext uri="{9D8B030D-6E8A-4147-A177-3AD203B41FA5}">
                      <a16:colId xmlns:a16="http://schemas.microsoft.com/office/drawing/2014/main" val="4084672063"/>
                    </a:ext>
                  </a:extLst>
                </a:gridCol>
                <a:gridCol w="1663170">
                  <a:extLst>
                    <a:ext uri="{9D8B030D-6E8A-4147-A177-3AD203B41FA5}">
                      <a16:colId xmlns:a16="http://schemas.microsoft.com/office/drawing/2014/main" val="2354363581"/>
                    </a:ext>
                  </a:extLst>
                </a:gridCol>
              </a:tblGrid>
              <a:tr h="373871">
                <a:tc>
                  <a:txBody>
                    <a:bodyPr/>
                    <a:lstStyle/>
                    <a:p>
                      <a:pPr rtl="0"/>
                      <a:r>
                        <a:rPr lang="tr-TR" b="1" dirty="0" err="1">
                          <a:solidFill>
                            <a:schemeClr val="bg1"/>
                          </a:solidFill>
                          <a:effectLst/>
                          <a:latin typeface="+mn-lt"/>
                        </a:rPr>
                        <a:t>Parameter</a:t>
                      </a:r>
                      <a:endParaRPr lang="tr-TR" dirty="0">
                        <a:solidFill>
                          <a:schemeClr val="bg1"/>
                        </a:solidFill>
                        <a:effectLst/>
                        <a:latin typeface="+mn-l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tr-TR" b="1">
                          <a:solidFill>
                            <a:schemeClr val="bg1"/>
                          </a:solidFill>
                          <a:effectLst/>
                          <a:latin typeface="+mn-lt"/>
                        </a:rPr>
                        <a:t>Value</a:t>
                      </a:r>
                      <a:endParaRPr lang="tr-TR">
                        <a:solidFill>
                          <a:schemeClr val="bg1"/>
                        </a:solidFill>
                        <a:effectLst/>
                        <a:latin typeface="+mn-l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044772774"/>
                  </a:ext>
                </a:extLst>
              </a:tr>
              <a:tr h="373871">
                <a:tc>
                  <a:txBody>
                    <a:bodyPr/>
                    <a:lstStyle/>
                    <a:p>
                      <a:pPr rtl="0"/>
                      <a:r>
                        <a:rPr lang="tr-TR" b="0" dirty="0" err="1">
                          <a:solidFill>
                            <a:schemeClr val="bg1"/>
                          </a:solidFill>
                          <a:effectLst/>
                          <a:latin typeface="+mn-lt"/>
                        </a:rPr>
                        <a:t>Batch</a:t>
                      </a:r>
                      <a:r>
                        <a:rPr lang="tr-TR" b="1" dirty="0">
                          <a:solidFill>
                            <a:schemeClr val="bg1"/>
                          </a:solidFill>
                          <a:effectLst/>
                          <a:latin typeface="+mn-lt"/>
                        </a:rPr>
                        <a:t> </a:t>
                      </a:r>
                      <a:r>
                        <a:rPr lang="tr-TR" b="0" dirty="0">
                          <a:solidFill>
                            <a:schemeClr val="bg1"/>
                          </a:solidFill>
                          <a:effectLst/>
                          <a:latin typeface="+mn-lt"/>
                        </a:rPr>
                        <a:t>Size</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tr-TR" dirty="0">
                          <a:solidFill>
                            <a:schemeClr val="bg1"/>
                          </a:solidFill>
                          <a:effectLst/>
                          <a:latin typeface="+mn-lt"/>
                        </a:rPr>
                        <a:t>16 (Train &amp; </a:t>
                      </a:r>
                      <a:r>
                        <a:rPr lang="tr-TR" dirty="0" err="1">
                          <a:solidFill>
                            <a:schemeClr val="bg1"/>
                          </a:solidFill>
                          <a:effectLst/>
                          <a:latin typeface="+mn-lt"/>
                        </a:rPr>
                        <a:t>Eval</a:t>
                      </a:r>
                      <a:r>
                        <a:rPr lang="tr-TR" dirty="0">
                          <a:solidFill>
                            <a:schemeClr val="bg1"/>
                          </a:solidFill>
                          <a:effectLst/>
                          <a:latin typeface="+mn-lt"/>
                        </a:rPr>
                        <a:t>)</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67322383"/>
                  </a:ext>
                </a:extLst>
              </a:tr>
              <a:tr h="373871">
                <a:tc>
                  <a:txBody>
                    <a:bodyPr/>
                    <a:lstStyle/>
                    <a:p>
                      <a:pPr rtl="0"/>
                      <a:r>
                        <a:rPr lang="tr-TR" b="0" dirty="0" err="1">
                          <a:solidFill>
                            <a:schemeClr val="bg1"/>
                          </a:solidFill>
                          <a:effectLst/>
                          <a:latin typeface="+mn-lt"/>
                        </a:rPr>
                        <a:t>Epochs</a:t>
                      </a:r>
                      <a:endParaRPr lang="tr-TR" b="0" dirty="0">
                        <a:solidFill>
                          <a:schemeClr val="bg1"/>
                        </a:solidFill>
                        <a:effectLst/>
                        <a:latin typeface="+mn-l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tr-TR" dirty="0">
                          <a:solidFill>
                            <a:schemeClr val="bg1"/>
                          </a:solidFill>
                          <a:effectLst/>
                          <a:latin typeface="+mn-lt"/>
                        </a:rPr>
                        <a:t>3</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857932712"/>
                  </a:ext>
                </a:extLst>
              </a:tr>
              <a:tr h="591963">
                <a:tc>
                  <a:txBody>
                    <a:bodyPr/>
                    <a:lstStyle/>
                    <a:p>
                      <a:pPr rtl="0"/>
                      <a:r>
                        <a:rPr lang="tr-TR" b="0" dirty="0">
                          <a:solidFill>
                            <a:schemeClr val="bg1"/>
                          </a:solidFill>
                          <a:effectLst/>
                          <a:latin typeface="+mn-lt"/>
                        </a:rPr>
                        <a:t>Learning Rate</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tr-TR">
                          <a:solidFill>
                            <a:schemeClr val="bg1"/>
                          </a:solidFill>
                          <a:effectLst/>
                          <a:latin typeface="+mn-lt"/>
                        </a:rPr>
                        <a:t>2e-5 (Standard for BERT)</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688781897"/>
                  </a:ext>
                </a:extLst>
              </a:tr>
              <a:tr h="373871">
                <a:tc>
                  <a:txBody>
                    <a:bodyPr/>
                    <a:lstStyle/>
                    <a:p>
                      <a:pPr rtl="0"/>
                      <a:r>
                        <a:rPr lang="tr-TR" b="0" dirty="0" err="1">
                          <a:solidFill>
                            <a:schemeClr val="bg1"/>
                          </a:solidFill>
                          <a:effectLst/>
                          <a:latin typeface="+mn-lt"/>
                        </a:rPr>
                        <a:t>Warmup</a:t>
                      </a:r>
                      <a:r>
                        <a:rPr lang="tr-TR" b="0" dirty="0">
                          <a:solidFill>
                            <a:schemeClr val="bg1"/>
                          </a:solidFill>
                          <a:effectLst/>
                          <a:latin typeface="+mn-lt"/>
                        </a:rPr>
                        <a:t> </a:t>
                      </a:r>
                      <a:r>
                        <a:rPr lang="tr-TR" b="0" dirty="0" err="1">
                          <a:solidFill>
                            <a:schemeClr val="bg1"/>
                          </a:solidFill>
                          <a:effectLst/>
                          <a:latin typeface="+mn-lt"/>
                        </a:rPr>
                        <a:t>Steps</a:t>
                      </a:r>
                      <a:endParaRPr lang="tr-TR" b="0" dirty="0">
                        <a:solidFill>
                          <a:schemeClr val="bg1"/>
                        </a:solidFill>
                        <a:effectLst/>
                        <a:latin typeface="+mn-l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tr-TR">
                          <a:solidFill>
                            <a:schemeClr val="bg1"/>
                          </a:solidFill>
                          <a:effectLst/>
                          <a:latin typeface="+mn-lt"/>
                        </a:rPr>
                        <a:t>500</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757074739"/>
                  </a:ext>
                </a:extLst>
              </a:tr>
              <a:tr h="373871">
                <a:tc>
                  <a:txBody>
                    <a:bodyPr/>
                    <a:lstStyle/>
                    <a:p>
                      <a:pPr rtl="0"/>
                      <a:r>
                        <a:rPr lang="tr-TR" b="0" dirty="0" err="1">
                          <a:solidFill>
                            <a:schemeClr val="bg1"/>
                          </a:solidFill>
                          <a:effectLst/>
                          <a:latin typeface="+mn-lt"/>
                        </a:rPr>
                        <a:t>Weight</a:t>
                      </a:r>
                      <a:r>
                        <a:rPr lang="tr-TR" b="0" dirty="0">
                          <a:solidFill>
                            <a:schemeClr val="bg1"/>
                          </a:solidFill>
                          <a:effectLst/>
                          <a:latin typeface="+mn-lt"/>
                        </a:rPr>
                        <a:t> </a:t>
                      </a:r>
                      <a:r>
                        <a:rPr lang="tr-TR" b="0" dirty="0" err="1">
                          <a:solidFill>
                            <a:schemeClr val="bg1"/>
                          </a:solidFill>
                          <a:effectLst/>
                          <a:latin typeface="+mn-lt"/>
                        </a:rPr>
                        <a:t>Decay</a:t>
                      </a:r>
                      <a:endParaRPr lang="tr-TR" b="0" dirty="0">
                        <a:solidFill>
                          <a:schemeClr val="bg1"/>
                        </a:solidFill>
                        <a:effectLst/>
                        <a:latin typeface="+mn-l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tr-TR">
                          <a:solidFill>
                            <a:schemeClr val="bg1"/>
                          </a:solidFill>
                          <a:effectLst/>
                          <a:latin typeface="+mn-lt"/>
                        </a:rPr>
                        <a:t>0.01</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452464912"/>
                  </a:ext>
                </a:extLst>
              </a:tr>
              <a:tr h="373871">
                <a:tc>
                  <a:txBody>
                    <a:bodyPr/>
                    <a:lstStyle/>
                    <a:p>
                      <a:pPr rtl="0"/>
                      <a:r>
                        <a:rPr lang="tr-TR" b="0" dirty="0" err="1">
                          <a:solidFill>
                            <a:schemeClr val="bg1"/>
                          </a:solidFill>
                          <a:effectLst/>
                          <a:latin typeface="+mn-lt"/>
                        </a:rPr>
                        <a:t>Max</a:t>
                      </a:r>
                      <a:r>
                        <a:rPr lang="tr-TR" b="0" dirty="0">
                          <a:solidFill>
                            <a:schemeClr val="bg1"/>
                          </a:solidFill>
                          <a:effectLst/>
                          <a:latin typeface="+mn-lt"/>
                        </a:rPr>
                        <a:t> </a:t>
                      </a:r>
                      <a:r>
                        <a:rPr lang="tr-TR" b="0" dirty="0" err="1">
                          <a:solidFill>
                            <a:schemeClr val="bg1"/>
                          </a:solidFill>
                          <a:effectLst/>
                          <a:latin typeface="+mn-lt"/>
                        </a:rPr>
                        <a:t>Sequence</a:t>
                      </a:r>
                      <a:endParaRPr lang="tr-TR" b="0" dirty="0">
                        <a:solidFill>
                          <a:schemeClr val="bg1"/>
                        </a:solidFill>
                        <a:effectLst/>
                        <a:latin typeface="+mn-l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tr-TR" dirty="0">
                          <a:solidFill>
                            <a:schemeClr val="bg1"/>
                          </a:solidFill>
                          <a:effectLst/>
                          <a:latin typeface="+mn-lt"/>
                        </a:rPr>
                        <a:t>128 </a:t>
                      </a:r>
                      <a:r>
                        <a:rPr lang="tr-TR" dirty="0" err="1">
                          <a:solidFill>
                            <a:schemeClr val="bg1"/>
                          </a:solidFill>
                          <a:effectLst/>
                          <a:latin typeface="+mn-lt"/>
                        </a:rPr>
                        <a:t>Tokens</a:t>
                      </a:r>
                      <a:endParaRPr lang="tr-TR" dirty="0">
                        <a:solidFill>
                          <a:schemeClr val="bg1"/>
                        </a:solidFill>
                        <a:effectLst/>
                        <a:latin typeface="+mn-l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397524143"/>
                  </a:ext>
                </a:extLst>
              </a:tr>
            </a:tbl>
          </a:graphicData>
        </a:graphic>
      </p:graphicFrame>
      <p:sp>
        <p:nvSpPr>
          <p:cNvPr id="6" name="Metin kutusu 5"/>
          <p:cNvSpPr txBox="1"/>
          <p:nvPr/>
        </p:nvSpPr>
        <p:spPr>
          <a:xfrm>
            <a:off x="213777" y="5266501"/>
            <a:ext cx="6491909" cy="954107"/>
          </a:xfrm>
          <a:prstGeom prst="rect">
            <a:avLst/>
          </a:prstGeom>
          <a:noFill/>
        </p:spPr>
        <p:txBody>
          <a:bodyPr wrap="square" rtlCol="0">
            <a:spAutoFit/>
          </a:bodyPr>
          <a:lstStyle/>
          <a:p>
            <a:r>
              <a:rPr lang="tr-TR" b="1" dirty="0" err="1">
                <a:solidFill>
                  <a:schemeClr val="bg1"/>
                </a:solidFill>
              </a:rPr>
              <a:t>Hugging</a:t>
            </a:r>
            <a:r>
              <a:rPr lang="tr-TR" b="1" dirty="0">
                <a:solidFill>
                  <a:schemeClr val="bg1"/>
                </a:solidFill>
              </a:rPr>
              <a:t> </a:t>
            </a:r>
            <a:r>
              <a:rPr lang="tr-TR" b="1" dirty="0" err="1">
                <a:solidFill>
                  <a:schemeClr val="bg1"/>
                </a:solidFill>
              </a:rPr>
              <a:t>Face</a:t>
            </a:r>
            <a:r>
              <a:rPr lang="tr-TR" b="1" dirty="0">
                <a:solidFill>
                  <a:schemeClr val="bg1"/>
                </a:solidFill>
              </a:rPr>
              <a:t> </a:t>
            </a:r>
            <a:r>
              <a:rPr lang="tr-TR" b="1" dirty="0" err="1">
                <a:solidFill>
                  <a:schemeClr val="bg1"/>
                </a:solidFill>
              </a:rPr>
              <a:t>Ecosystem</a:t>
            </a:r>
            <a:r>
              <a:rPr lang="tr-TR" b="1" dirty="0" smtClean="0">
                <a:solidFill>
                  <a:schemeClr val="bg1"/>
                </a:solidFill>
              </a:rPr>
              <a:t>:</a:t>
            </a:r>
            <a:r>
              <a:rPr lang="tr-TR" b="1" dirty="0" smtClean="0"/>
              <a:t> </a:t>
            </a:r>
          </a:p>
          <a:p>
            <a:r>
              <a:rPr lang="tr-TR" dirty="0" smtClean="0">
                <a:solidFill>
                  <a:schemeClr val="bg1"/>
                </a:solidFill>
              </a:rPr>
              <a:t>-</a:t>
            </a:r>
            <a:r>
              <a:rPr lang="en-US" dirty="0" smtClean="0">
                <a:solidFill>
                  <a:schemeClr val="bg1"/>
                </a:solidFill>
              </a:rPr>
              <a:t>The </a:t>
            </a:r>
            <a:r>
              <a:rPr lang="en-US" dirty="0">
                <a:solidFill>
                  <a:schemeClr val="bg1"/>
                </a:solidFill>
              </a:rPr>
              <a:t>leading open-source platform for Natural Language Processing (NLP</a:t>
            </a:r>
            <a:r>
              <a:rPr lang="en-US" dirty="0" smtClean="0">
                <a:solidFill>
                  <a:schemeClr val="bg1"/>
                </a:solidFill>
              </a:rPr>
              <a:t>).</a:t>
            </a:r>
            <a:r>
              <a:rPr lang="tr-TR" dirty="0" smtClean="0">
                <a:solidFill>
                  <a:schemeClr val="bg1"/>
                </a:solidFill>
              </a:rPr>
              <a:t> </a:t>
            </a:r>
          </a:p>
          <a:p>
            <a:r>
              <a:rPr lang="tr-TR" dirty="0" smtClean="0">
                <a:solidFill>
                  <a:schemeClr val="bg1"/>
                </a:solidFill>
              </a:rPr>
              <a:t>-</a:t>
            </a:r>
            <a:r>
              <a:rPr lang="en-US" dirty="0" smtClean="0">
                <a:solidFill>
                  <a:schemeClr val="bg1"/>
                </a:solidFill>
              </a:rPr>
              <a:t>Serves </a:t>
            </a:r>
            <a:r>
              <a:rPr lang="en-US" dirty="0">
                <a:solidFill>
                  <a:schemeClr val="bg1"/>
                </a:solidFill>
              </a:rPr>
              <a:t>as a central hub hosting pre-trained Transformer models (like </a:t>
            </a:r>
            <a:r>
              <a:rPr lang="en-US" i="1" dirty="0" err="1">
                <a:solidFill>
                  <a:schemeClr val="bg1"/>
                </a:solidFill>
              </a:rPr>
              <a:t>DistilBERT</a:t>
            </a:r>
            <a:r>
              <a:rPr lang="en-US" dirty="0">
                <a:solidFill>
                  <a:schemeClr val="bg1"/>
                </a:solidFill>
              </a:rPr>
              <a:t>).</a:t>
            </a:r>
            <a:endParaRPr lang="tr-TR" dirty="0">
              <a:solidFill>
                <a:schemeClr val="bg1"/>
              </a:solidFill>
            </a:endParaRPr>
          </a:p>
        </p:txBody>
      </p:sp>
      <p:pic>
        <p:nvPicPr>
          <p:cNvPr id="7" name="Resim 6"/>
          <p:cNvPicPr>
            <a:picLocks noChangeAspect="1"/>
          </p:cNvPicPr>
          <p:nvPr/>
        </p:nvPicPr>
        <p:blipFill>
          <a:blip r:embed="rId3"/>
          <a:stretch>
            <a:fillRect/>
          </a:stretch>
        </p:blipFill>
        <p:spPr>
          <a:xfrm>
            <a:off x="8759474" y="2722427"/>
            <a:ext cx="3147146" cy="334546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181" name="Google Shape;181;p18" descr="image.png"/>
          <p:cNvPicPr preferRelativeResize="0"/>
          <p:nvPr/>
        </p:nvPicPr>
        <p:blipFill rotWithShape="1">
          <a:blip r:embed="rId3">
            <a:alphaModFix/>
          </a:blip>
          <a:srcRect/>
          <a:stretch/>
        </p:blipFill>
        <p:spPr>
          <a:xfrm>
            <a:off x="0" y="19050"/>
            <a:ext cx="12192000" cy="6858000"/>
          </a:xfrm>
          <a:prstGeom prst="rect">
            <a:avLst/>
          </a:prstGeom>
          <a:noFill/>
          <a:ln>
            <a:noFill/>
          </a:ln>
        </p:spPr>
      </p:pic>
      <p:pic>
        <p:nvPicPr>
          <p:cNvPr id="182" name="Google Shape;182;p18" descr="image.png"/>
          <p:cNvPicPr preferRelativeResize="0"/>
          <p:nvPr/>
        </p:nvPicPr>
        <p:blipFill rotWithShape="1">
          <a:blip r:embed="rId4">
            <a:alphaModFix/>
          </a:blip>
          <a:srcRect/>
          <a:stretch/>
        </p:blipFill>
        <p:spPr>
          <a:xfrm>
            <a:off x="571500" y="2200275"/>
            <a:ext cx="3492549" cy="3609975"/>
          </a:xfrm>
          <a:prstGeom prst="rect">
            <a:avLst/>
          </a:prstGeom>
          <a:noFill/>
          <a:ln>
            <a:noFill/>
          </a:ln>
        </p:spPr>
      </p:pic>
      <p:sp>
        <p:nvSpPr>
          <p:cNvPr id="186" name="Google Shape;186;p18"/>
          <p:cNvSpPr txBox="1"/>
          <p:nvPr/>
        </p:nvSpPr>
        <p:spPr>
          <a:xfrm>
            <a:off x="967605" y="2924175"/>
            <a:ext cx="2700337"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dirty="0">
                <a:solidFill>
                  <a:srgbClr val="F1F5F9"/>
                </a:solidFill>
                <a:latin typeface="Inter"/>
                <a:ea typeface="Inter"/>
                <a:cs typeface="Inter"/>
                <a:sym typeface="Inter"/>
              </a:rPr>
              <a:t>Logistic Regression</a:t>
            </a:r>
            <a:endParaRPr dirty="0"/>
          </a:p>
        </p:txBody>
      </p:sp>
      <p:sp>
        <p:nvSpPr>
          <p:cNvPr id="187" name="Google Shape;187;p18"/>
          <p:cNvSpPr txBox="1"/>
          <p:nvPr/>
        </p:nvSpPr>
        <p:spPr>
          <a:xfrm>
            <a:off x="866773" y="3524600"/>
            <a:ext cx="2901999" cy="12192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dirty="0">
                <a:solidFill>
                  <a:srgbClr val="94A3B8"/>
                </a:solidFill>
                <a:latin typeface="Inter"/>
                <a:ea typeface="Inter"/>
                <a:cs typeface="Inter"/>
                <a:sym typeface="Inter"/>
              </a:rPr>
              <a:t>A baseline linear model using TF-IDF vectors. Simple and interpretable but struggles with complex context.</a:t>
            </a:r>
            <a:endParaRPr dirty="0"/>
          </a:p>
        </p:txBody>
      </p:sp>
      <p:sp>
        <p:nvSpPr>
          <p:cNvPr id="197" name="Google Shape;197;p18"/>
          <p:cNvSpPr txBox="1"/>
          <p:nvPr/>
        </p:nvSpPr>
        <p:spPr>
          <a:xfrm>
            <a:off x="571500" y="571500"/>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38BDF8"/>
                </a:solidFill>
                <a:latin typeface="Inter"/>
                <a:ea typeface="Inter"/>
                <a:cs typeface="Inter"/>
                <a:sym typeface="Inter"/>
              </a:rPr>
              <a:t>Models Implemented</a:t>
            </a:r>
            <a:endParaRPr/>
          </a:p>
        </p:txBody>
      </p:sp>
      <p:sp>
        <p:nvSpPr>
          <p:cNvPr id="198" name="Google Shape;198;p18"/>
          <p:cNvSpPr/>
          <p:nvPr/>
        </p:nvSpPr>
        <p:spPr>
          <a:xfrm>
            <a:off x="571500" y="1323975"/>
            <a:ext cx="11049000" cy="1905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 name="Resim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00650" y="1430417"/>
            <a:ext cx="6419850" cy="5407565"/>
          </a:xfrm>
          <a:prstGeom prst="rect">
            <a:avLst/>
          </a:prstGeom>
        </p:spPr>
      </p:pic>
    </p:spTree>
    <p:extLst>
      <p:ext uri="{BB962C8B-B14F-4D97-AF65-F5344CB8AC3E}">
        <p14:creationId xmlns:p14="http://schemas.microsoft.com/office/powerpoint/2010/main" val="15927502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80"/>
        <p:cNvGrpSpPr/>
        <p:nvPr/>
      </p:nvGrpSpPr>
      <p:grpSpPr>
        <a:xfrm>
          <a:off x="0" y="0"/>
          <a:ext cx="0" cy="0"/>
          <a:chOff x="0" y="0"/>
          <a:chExt cx="0" cy="0"/>
        </a:xfrm>
      </p:grpSpPr>
      <p:pic>
        <p:nvPicPr>
          <p:cNvPr id="183" name="Google Shape;183;p18" descr="image.png"/>
          <p:cNvPicPr preferRelativeResize="0"/>
          <p:nvPr/>
        </p:nvPicPr>
        <p:blipFill rotWithShape="1">
          <a:blip r:embed="rId3">
            <a:alphaModFix/>
          </a:blip>
          <a:srcRect/>
          <a:stretch/>
        </p:blipFill>
        <p:spPr>
          <a:xfrm>
            <a:off x="566662" y="2031335"/>
            <a:ext cx="3492549" cy="3609975"/>
          </a:xfrm>
          <a:prstGeom prst="rect">
            <a:avLst/>
          </a:prstGeom>
          <a:noFill/>
          <a:ln>
            <a:noFill/>
          </a:ln>
        </p:spPr>
      </p:pic>
      <p:sp>
        <p:nvSpPr>
          <p:cNvPr id="189" name="Google Shape;189;p18"/>
          <p:cNvSpPr txBox="1"/>
          <p:nvPr/>
        </p:nvSpPr>
        <p:spPr>
          <a:xfrm>
            <a:off x="1366316" y="2790476"/>
            <a:ext cx="1570196"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dirty="0">
                <a:solidFill>
                  <a:srgbClr val="F1F5F9"/>
                </a:solidFill>
                <a:latin typeface="Inter"/>
                <a:ea typeface="Inter"/>
                <a:cs typeface="Inter"/>
                <a:sym typeface="Inter"/>
              </a:rPr>
              <a:t>Linear SVM</a:t>
            </a:r>
            <a:endParaRPr dirty="0"/>
          </a:p>
        </p:txBody>
      </p:sp>
      <p:sp>
        <p:nvSpPr>
          <p:cNvPr id="190" name="Google Shape;190;p18"/>
          <p:cNvSpPr txBox="1"/>
          <p:nvPr/>
        </p:nvSpPr>
        <p:spPr>
          <a:xfrm>
            <a:off x="861936" y="3508009"/>
            <a:ext cx="2901999" cy="12192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dirty="0">
                <a:solidFill>
                  <a:srgbClr val="94A3B8"/>
                </a:solidFill>
                <a:latin typeface="Inter"/>
                <a:ea typeface="Inter"/>
                <a:cs typeface="Inter"/>
                <a:sym typeface="Inter"/>
              </a:rPr>
              <a:t>Support Vector Machine finds the optimal hyperplane. Effective for high-dimensional text data.</a:t>
            </a:r>
            <a:endParaRPr dirty="0"/>
          </a:p>
        </p:txBody>
      </p:sp>
      <p:sp>
        <p:nvSpPr>
          <p:cNvPr id="197" name="Google Shape;197;p18"/>
          <p:cNvSpPr txBox="1"/>
          <p:nvPr/>
        </p:nvSpPr>
        <p:spPr>
          <a:xfrm>
            <a:off x="571500" y="571500"/>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38BDF8"/>
                </a:solidFill>
                <a:latin typeface="Inter"/>
                <a:ea typeface="Inter"/>
                <a:cs typeface="Inter"/>
                <a:sym typeface="Inter"/>
              </a:rPr>
              <a:t>Models Implemented</a:t>
            </a:r>
            <a:endParaRPr/>
          </a:p>
        </p:txBody>
      </p:sp>
      <p:sp>
        <p:nvSpPr>
          <p:cNvPr id="198" name="Google Shape;198;p18"/>
          <p:cNvSpPr/>
          <p:nvPr/>
        </p:nvSpPr>
        <p:spPr>
          <a:xfrm>
            <a:off x="571500" y="1323975"/>
            <a:ext cx="11049000" cy="1905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 name="Resim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71554" y="1514475"/>
            <a:ext cx="6545661" cy="5343525"/>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181" name="Google Shape;181;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84" name="Google Shape;184;p18" descr="image.png"/>
          <p:cNvPicPr preferRelativeResize="0"/>
          <p:nvPr/>
        </p:nvPicPr>
        <p:blipFill rotWithShape="1">
          <a:blip r:embed="rId4">
            <a:alphaModFix/>
          </a:blip>
          <a:srcRect/>
          <a:stretch/>
        </p:blipFill>
        <p:spPr>
          <a:xfrm>
            <a:off x="571500" y="2105025"/>
            <a:ext cx="3492549" cy="3609975"/>
          </a:xfrm>
          <a:prstGeom prst="rect">
            <a:avLst/>
          </a:prstGeom>
          <a:noFill/>
          <a:ln>
            <a:noFill/>
          </a:ln>
        </p:spPr>
      </p:pic>
      <p:sp>
        <p:nvSpPr>
          <p:cNvPr id="192" name="Google Shape;192;p18"/>
          <p:cNvSpPr txBox="1"/>
          <p:nvPr/>
        </p:nvSpPr>
        <p:spPr>
          <a:xfrm>
            <a:off x="1602685" y="2841658"/>
            <a:ext cx="1430178"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dirty="0" err="1">
                <a:solidFill>
                  <a:srgbClr val="F1F5F9"/>
                </a:solidFill>
                <a:latin typeface="Inter"/>
                <a:ea typeface="Inter"/>
                <a:cs typeface="Inter"/>
                <a:sym typeface="Inter"/>
              </a:rPr>
              <a:t>DistilBERT</a:t>
            </a:r>
            <a:endParaRPr dirty="0"/>
          </a:p>
        </p:txBody>
      </p:sp>
      <p:sp>
        <p:nvSpPr>
          <p:cNvPr id="193" name="Google Shape;193;p18"/>
          <p:cNvSpPr txBox="1"/>
          <p:nvPr/>
        </p:nvSpPr>
        <p:spPr>
          <a:xfrm>
            <a:off x="866774" y="3490912"/>
            <a:ext cx="2901999" cy="12192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dirty="0">
                <a:solidFill>
                  <a:srgbClr val="94A3B8"/>
                </a:solidFill>
                <a:latin typeface="Inter"/>
                <a:ea typeface="Inter"/>
                <a:cs typeface="Inter"/>
                <a:sym typeface="Inter"/>
              </a:rPr>
              <a:t>A distilled version of BERT. A Transformer model that understands context and word relationships </a:t>
            </a:r>
            <a:r>
              <a:rPr lang="en-US" sz="1500" b="0" i="0" u="none" strike="noStrike" cap="none" dirty="0" err="1">
                <a:solidFill>
                  <a:srgbClr val="94A3B8"/>
                </a:solidFill>
                <a:latin typeface="Inter"/>
                <a:ea typeface="Inter"/>
                <a:cs typeface="Inter"/>
                <a:sym typeface="Inter"/>
              </a:rPr>
              <a:t>bidirectionally</a:t>
            </a:r>
            <a:r>
              <a:rPr lang="en-US" sz="1500" b="0" i="0" u="none" strike="noStrike" cap="none" dirty="0">
                <a:solidFill>
                  <a:srgbClr val="94A3B8"/>
                </a:solidFill>
                <a:latin typeface="Inter"/>
                <a:ea typeface="Inter"/>
                <a:cs typeface="Inter"/>
                <a:sym typeface="Inter"/>
              </a:rPr>
              <a:t>.</a:t>
            </a:r>
            <a:endParaRPr dirty="0"/>
          </a:p>
        </p:txBody>
      </p:sp>
      <p:sp>
        <p:nvSpPr>
          <p:cNvPr id="197" name="Google Shape;197;p18"/>
          <p:cNvSpPr txBox="1"/>
          <p:nvPr/>
        </p:nvSpPr>
        <p:spPr>
          <a:xfrm>
            <a:off x="571500" y="571500"/>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38BDF8"/>
                </a:solidFill>
                <a:latin typeface="Inter"/>
                <a:ea typeface="Inter"/>
                <a:cs typeface="Inter"/>
                <a:sym typeface="Inter"/>
              </a:rPr>
              <a:t>Models Implemented</a:t>
            </a:r>
            <a:endParaRPr/>
          </a:p>
        </p:txBody>
      </p:sp>
      <p:sp>
        <p:nvSpPr>
          <p:cNvPr id="198" name="Google Shape;198;p18"/>
          <p:cNvSpPr/>
          <p:nvPr/>
        </p:nvSpPr>
        <p:spPr>
          <a:xfrm>
            <a:off x="571500" y="1323975"/>
            <a:ext cx="11049000" cy="1905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 name="Resim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74644" y="1380478"/>
            <a:ext cx="5922344" cy="5440068"/>
          </a:xfrm>
          <a:prstGeom prst="rect">
            <a:avLst/>
          </a:prstGeom>
        </p:spPr>
      </p:pic>
    </p:spTree>
    <p:extLst>
      <p:ext uri="{BB962C8B-B14F-4D97-AF65-F5344CB8AC3E}">
        <p14:creationId xmlns:p14="http://schemas.microsoft.com/office/powerpoint/2010/main" val="4019983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202"/>
        <p:cNvGrpSpPr/>
        <p:nvPr/>
      </p:nvGrpSpPr>
      <p:grpSpPr>
        <a:xfrm>
          <a:off x="0" y="0"/>
          <a:ext cx="0" cy="0"/>
          <a:chOff x="0" y="0"/>
          <a:chExt cx="0" cy="0"/>
        </a:xfrm>
      </p:grpSpPr>
      <p:pic>
        <p:nvPicPr>
          <p:cNvPr id="203" name="Google Shape;203;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04" name="Google Shape;204;p19" descr="image.png"/>
          <p:cNvPicPr preferRelativeResize="0"/>
          <p:nvPr/>
        </p:nvPicPr>
        <p:blipFill rotWithShape="1">
          <a:blip r:embed="rId4">
            <a:alphaModFix/>
          </a:blip>
          <a:srcRect/>
          <a:stretch/>
        </p:blipFill>
        <p:spPr>
          <a:xfrm>
            <a:off x="571500" y="1724025"/>
            <a:ext cx="11049000" cy="4562475"/>
          </a:xfrm>
          <a:prstGeom prst="rect">
            <a:avLst/>
          </a:prstGeom>
          <a:noFill/>
          <a:ln>
            <a:noFill/>
          </a:ln>
        </p:spPr>
      </p:pic>
      <p:sp>
        <p:nvSpPr>
          <p:cNvPr id="205" name="Google Shape;205;p19"/>
          <p:cNvSpPr txBox="1"/>
          <p:nvPr/>
        </p:nvSpPr>
        <p:spPr>
          <a:xfrm>
            <a:off x="571500" y="571500"/>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38BDF8"/>
                </a:solidFill>
                <a:latin typeface="Inter"/>
                <a:ea typeface="Inter"/>
                <a:cs typeface="Inter"/>
                <a:sym typeface="Inter"/>
              </a:rPr>
              <a:t>Performance Results: Accuracy</a:t>
            </a:r>
            <a:endParaRPr/>
          </a:p>
        </p:txBody>
      </p:sp>
      <p:sp>
        <p:nvSpPr>
          <p:cNvPr id="206" name="Google Shape;206;p19"/>
          <p:cNvSpPr/>
          <p:nvPr/>
        </p:nvSpPr>
        <p:spPr>
          <a:xfrm>
            <a:off x="571500" y="1323975"/>
            <a:ext cx="11049000" cy="1905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210"/>
        <p:cNvGrpSpPr/>
        <p:nvPr/>
      </p:nvGrpSpPr>
      <p:grpSpPr>
        <a:xfrm>
          <a:off x="0" y="0"/>
          <a:ext cx="0" cy="0"/>
          <a:chOff x="0" y="0"/>
          <a:chExt cx="0" cy="0"/>
        </a:xfrm>
      </p:grpSpPr>
      <p:pic>
        <p:nvPicPr>
          <p:cNvPr id="211" name="Google Shape;211;p20" descr="image.png"/>
          <p:cNvPicPr preferRelativeResize="0"/>
          <p:nvPr/>
        </p:nvPicPr>
        <p:blipFill rotWithShape="1">
          <a:blip r:embed="rId3">
            <a:alphaModFix/>
          </a:blip>
          <a:srcRect/>
          <a:stretch/>
        </p:blipFill>
        <p:spPr>
          <a:xfrm>
            <a:off x="0" y="-86627"/>
            <a:ext cx="12192000" cy="6858000"/>
          </a:xfrm>
          <a:prstGeom prst="rect">
            <a:avLst/>
          </a:prstGeom>
          <a:noFill/>
          <a:ln>
            <a:noFill/>
          </a:ln>
        </p:spPr>
      </p:pic>
      <p:sp>
        <p:nvSpPr>
          <p:cNvPr id="241" name="Google Shape;241;p20"/>
          <p:cNvSpPr txBox="1"/>
          <p:nvPr/>
        </p:nvSpPr>
        <p:spPr>
          <a:xfrm>
            <a:off x="571500" y="571500"/>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38BDF8"/>
                </a:solidFill>
                <a:latin typeface="Inter"/>
                <a:ea typeface="Inter"/>
                <a:cs typeface="Inter"/>
                <a:sym typeface="Inter"/>
              </a:rPr>
              <a:t>Class-wise Performance (DistilBERT)</a:t>
            </a:r>
            <a:endParaRPr/>
          </a:p>
        </p:txBody>
      </p:sp>
      <p:sp>
        <p:nvSpPr>
          <p:cNvPr id="242" name="Google Shape;242;p20"/>
          <p:cNvSpPr/>
          <p:nvPr/>
        </p:nvSpPr>
        <p:spPr>
          <a:xfrm>
            <a:off x="571500" y="1323975"/>
            <a:ext cx="11049000" cy="1905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 name="Resim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1500" y="1514475"/>
            <a:ext cx="7316050" cy="3142828"/>
          </a:xfrm>
          <a:prstGeom prst="rect">
            <a:avLst/>
          </a:prstGeom>
        </p:spPr>
      </p:pic>
      <p:sp>
        <p:nvSpPr>
          <p:cNvPr id="3" name="Metin kutusu 2"/>
          <p:cNvSpPr txBox="1"/>
          <p:nvPr/>
        </p:nvSpPr>
        <p:spPr>
          <a:xfrm>
            <a:off x="8085221" y="1514475"/>
            <a:ext cx="3705726" cy="5016758"/>
          </a:xfrm>
          <a:prstGeom prst="rect">
            <a:avLst/>
          </a:prstGeom>
          <a:noFill/>
        </p:spPr>
        <p:txBody>
          <a:bodyPr wrap="square" rtlCol="0">
            <a:spAutoFit/>
          </a:bodyPr>
          <a:lstStyle/>
          <a:p>
            <a:r>
              <a:rPr lang="en-US" sz="1600" b="1" dirty="0">
                <a:solidFill>
                  <a:schemeClr val="bg1"/>
                </a:solidFill>
              </a:rPr>
              <a:t>Overall Accuracy:</a:t>
            </a:r>
            <a:r>
              <a:rPr lang="en-US" sz="1600" dirty="0">
                <a:solidFill>
                  <a:schemeClr val="bg1"/>
                </a:solidFill>
              </a:rPr>
              <a:t> The model achieved an </a:t>
            </a:r>
            <a:r>
              <a:rPr lang="en-US" sz="1600" b="1" dirty="0">
                <a:solidFill>
                  <a:schemeClr val="bg1"/>
                </a:solidFill>
              </a:rPr>
              <a:t>86%</a:t>
            </a:r>
            <a:r>
              <a:rPr lang="en-US" sz="1600" dirty="0">
                <a:solidFill>
                  <a:schemeClr val="bg1"/>
                </a:solidFill>
              </a:rPr>
              <a:t> accuracy rate across all </a:t>
            </a:r>
            <a:r>
              <a:rPr lang="en-US" sz="1600" dirty="0" smtClean="0">
                <a:solidFill>
                  <a:schemeClr val="bg1"/>
                </a:solidFill>
              </a:rPr>
              <a:t>classes</a:t>
            </a:r>
            <a:endParaRPr lang="tr-TR" sz="1600" dirty="0" smtClean="0">
              <a:solidFill>
                <a:schemeClr val="bg1"/>
              </a:solidFill>
            </a:endParaRPr>
          </a:p>
          <a:p>
            <a:endParaRPr lang="tr-TR" sz="1600" dirty="0">
              <a:solidFill>
                <a:schemeClr val="bg1"/>
              </a:solidFill>
            </a:endParaRPr>
          </a:p>
          <a:p>
            <a:r>
              <a:rPr lang="en-US" sz="1600" b="1" dirty="0">
                <a:solidFill>
                  <a:schemeClr val="bg1"/>
                </a:solidFill>
              </a:rPr>
              <a:t>Top Performance:</a:t>
            </a:r>
            <a:r>
              <a:rPr lang="en-US" sz="1600" dirty="0">
                <a:solidFill>
                  <a:schemeClr val="bg1"/>
                </a:solidFill>
              </a:rPr>
              <a:t> Excellent detection capabilities in </a:t>
            </a:r>
            <a:r>
              <a:rPr lang="en-US" sz="1600" b="1" dirty="0">
                <a:solidFill>
                  <a:schemeClr val="bg1"/>
                </a:solidFill>
              </a:rPr>
              <a:t>Ethnicity (98%)</a:t>
            </a:r>
            <a:r>
              <a:rPr lang="en-US" sz="1600" dirty="0">
                <a:solidFill>
                  <a:schemeClr val="bg1"/>
                </a:solidFill>
              </a:rPr>
              <a:t>, </a:t>
            </a:r>
            <a:r>
              <a:rPr lang="en-US" sz="1600" b="1" dirty="0">
                <a:solidFill>
                  <a:schemeClr val="bg1"/>
                </a:solidFill>
              </a:rPr>
              <a:t>Age (97%)</a:t>
            </a:r>
            <a:r>
              <a:rPr lang="en-US" sz="1600" dirty="0">
                <a:solidFill>
                  <a:schemeClr val="bg1"/>
                </a:solidFill>
              </a:rPr>
              <a:t>, and </a:t>
            </a:r>
            <a:r>
              <a:rPr lang="en-US" sz="1600" b="1" dirty="0">
                <a:solidFill>
                  <a:schemeClr val="bg1"/>
                </a:solidFill>
              </a:rPr>
              <a:t>Religion (96%)</a:t>
            </a:r>
            <a:r>
              <a:rPr lang="en-US" sz="1600" dirty="0">
                <a:solidFill>
                  <a:schemeClr val="bg1"/>
                </a:solidFill>
              </a:rPr>
              <a:t> classes</a:t>
            </a:r>
            <a:r>
              <a:rPr lang="en-US" sz="1600" dirty="0" smtClean="0">
                <a:solidFill>
                  <a:schemeClr val="bg1"/>
                </a:solidFill>
              </a:rPr>
              <a:t>.</a:t>
            </a:r>
            <a:endParaRPr lang="tr-TR" sz="1600" dirty="0" smtClean="0">
              <a:solidFill>
                <a:schemeClr val="bg1"/>
              </a:solidFill>
            </a:endParaRPr>
          </a:p>
          <a:p>
            <a:endParaRPr lang="tr-TR" sz="1600" dirty="0" smtClean="0">
              <a:solidFill>
                <a:schemeClr val="bg1"/>
              </a:solidFill>
            </a:endParaRPr>
          </a:p>
          <a:p>
            <a:r>
              <a:rPr lang="en-US" sz="1600" b="1" dirty="0">
                <a:solidFill>
                  <a:schemeClr val="bg1"/>
                </a:solidFill>
              </a:rPr>
              <a:t>Challenging Areas:</a:t>
            </a:r>
            <a:r>
              <a:rPr lang="en-US" sz="1600" dirty="0">
                <a:solidFill>
                  <a:schemeClr val="bg1"/>
                </a:solidFill>
              </a:rPr>
              <a:t> Performance drops when distinguishing </a:t>
            </a:r>
            <a:r>
              <a:rPr lang="en-US" sz="1600" dirty="0" smtClean="0">
                <a:solidFill>
                  <a:schemeClr val="bg1"/>
                </a:solidFill>
              </a:rPr>
              <a:t>between</a:t>
            </a:r>
            <a:r>
              <a:rPr lang="tr-TR" sz="1600" dirty="0">
                <a:solidFill>
                  <a:schemeClr val="bg1"/>
                </a:solidFill>
              </a:rPr>
              <a:t> </a:t>
            </a:r>
            <a:r>
              <a:rPr lang="tr-TR" sz="1600" dirty="0" err="1" smtClean="0">
                <a:solidFill>
                  <a:schemeClr val="bg1"/>
                </a:solidFill>
              </a:rPr>
              <a:t>not_cyberbullying</a:t>
            </a:r>
            <a:r>
              <a:rPr lang="tr-TR" sz="1600" dirty="0" smtClean="0">
                <a:solidFill>
                  <a:schemeClr val="bg1"/>
                </a:solidFill>
              </a:rPr>
              <a:t> </a:t>
            </a:r>
            <a:r>
              <a:rPr lang="tr-TR" sz="1600" dirty="0" err="1" smtClean="0">
                <a:solidFill>
                  <a:schemeClr val="bg1"/>
                </a:solidFill>
              </a:rPr>
              <a:t>and</a:t>
            </a:r>
            <a:r>
              <a:rPr lang="tr-TR" sz="1600" dirty="0" smtClean="0">
                <a:solidFill>
                  <a:schemeClr val="bg1"/>
                </a:solidFill>
              </a:rPr>
              <a:t> </a:t>
            </a:r>
            <a:r>
              <a:rPr lang="tr-TR" sz="1600" dirty="0" err="1" smtClean="0">
                <a:solidFill>
                  <a:schemeClr val="bg1"/>
                </a:solidFill>
              </a:rPr>
              <a:t>other_cyberbullying</a:t>
            </a:r>
            <a:endParaRPr lang="tr-TR" sz="1600" dirty="0" smtClean="0">
              <a:solidFill>
                <a:schemeClr val="bg1"/>
              </a:solidFill>
            </a:endParaRPr>
          </a:p>
          <a:p>
            <a:endParaRPr lang="tr-TR" sz="1600" dirty="0">
              <a:solidFill>
                <a:schemeClr val="bg1"/>
              </a:solidFill>
            </a:endParaRPr>
          </a:p>
          <a:p>
            <a:r>
              <a:rPr lang="en-US" sz="1600" b="1" dirty="0">
                <a:solidFill>
                  <a:schemeClr val="bg1"/>
                </a:solidFill>
              </a:rPr>
              <a:t>Conclusion:</a:t>
            </a:r>
            <a:r>
              <a:rPr lang="en-US" sz="1600" dirty="0">
                <a:solidFill>
                  <a:schemeClr val="bg1"/>
                </a:solidFill>
              </a:rPr>
              <a:t> </a:t>
            </a:r>
            <a:r>
              <a:rPr lang="en-US" sz="1600" dirty="0" err="1">
                <a:solidFill>
                  <a:schemeClr val="bg1"/>
                </a:solidFill>
              </a:rPr>
              <a:t>DistilBERT</a:t>
            </a:r>
            <a:r>
              <a:rPr lang="en-US" sz="1600" dirty="0">
                <a:solidFill>
                  <a:schemeClr val="bg1"/>
                </a:solidFill>
              </a:rPr>
              <a:t> excels at identifying specific targeted hate speech but faces challenges with the "gray areas" of general bullying and non-bullying text</a:t>
            </a:r>
            <a:endParaRPr lang="tr-TR" sz="1600" dirty="0">
              <a:solidFill>
                <a:schemeClr val="bg1"/>
              </a:solidFill>
            </a:endParaRPr>
          </a:p>
          <a:p>
            <a:endParaRPr lang="tr-TR" sz="1600" dirty="0">
              <a:solidFill>
                <a:schemeClr val="bg1"/>
              </a:solidFill>
            </a:endParaRPr>
          </a:p>
          <a:p>
            <a:endParaRPr lang="tr-TR" sz="1600" dirty="0">
              <a:solidFill>
                <a:schemeClr val="bg1"/>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246"/>
        <p:cNvGrpSpPr/>
        <p:nvPr/>
      </p:nvGrpSpPr>
      <p:grpSpPr>
        <a:xfrm>
          <a:off x="0" y="0"/>
          <a:ext cx="0" cy="0"/>
          <a:chOff x="0" y="0"/>
          <a:chExt cx="0" cy="0"/>
        </a:xfrm>
      </p:grpSpPr>
      <p:pic>
        <p:nvPicPr>
          <p:cNvPr id="247" name="Google Shape;247;p21" descr="image.png"/>
          <p:cNvPicPr preferRelativeResize="0"/>
          <p:nvPr/>
        </p:nvPicPr>
        <p:blipFill rotWithShape="1">
          <a:blip r:embed="rId3">
            <a:alphaModFix/>
          </a:blip>
          <a:srcRect/>
          <a:stretch/>
        </p:blipFill>
        <p:spPr>
          <a:xfrm>
            <a:off x="88777" y="0"/>
            <a:ext cx="12192000" cy="6858000"/>
          </a:xfrm>
          <a:prstGeom prst="rect">
            <a:avLst/>
          </a:prstGeom>
          <a:noFill/>
          <a:ln>
            <a:noFill/>
          </a:ln>
        </p:spPr>
      </p:pic>
      <p:sp>
        <p:nvSpPr>
          <p:cNvPr id="248" name="Google Shape;248;p21"/>
          <p:cNvSpPr txBox="1"/>
          <p:nvPr/>
        </p:nvSpPr>
        <p:spPr>
          <a:xfrm>
            <a:off x="762000" y="762000"/>
            <a:ext cx="4800600" cy="1143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38BDF8"/>
                </a:solidFill>
                <a:latin typeface="Inter"/>
                <a:ea typeface="Inter"/>
                <a:cs typeface="Inter"/>
                <a:sym typeface="Inter"/>
              </a:rPr>
              <a:t>The Power of Context</a:t>
            </a:r>
            <a:endParaRPr dirty="0"/>
          </a:p>
        </p:txBody>
      </p:sp>
      <p:sp>
        <p:nvSpPr>
          <p:cNvPr id="249" name="Google Shape;249;p21"/>
          <p:cNvSpPr/>
          <p:nvPr/>
        </p:nvSpPr>
        <p:spPr>
          <a:xfrm>
            <a:off x="762000" y="2076450"/>
            <a:ext cx="4572000" cy="1905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1" name="Google Shape;251;p21"/>
          <p:cNvSpPr txBox="1"/>
          <p:nvPr/>
        </p:nvSpPr>
        <p:spPr>
          <a:xfrm>
            <a:off x="762000" y="2476500"/>
            <a:ext cx="4800600"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CBD5E1"/>
                </a:solidFill>
                <a:latin typeface="Inter"/>
                <a:ea typeface="Inter"/>
                <a:cs typeface="Inter"/>
                <a:sym typeface="Inter"/>
              </a:rPr>
              <a:t>Why </a:t>
            </a:r>
            <a:r>
              <a:rPr lang="en-US" sz="2100" b="1" i="0" u="none" strike="noStrike" cap="none" dirty="0" err="1">
                <a:solidFill>
                  <a:srgbClr val="CBD5E1"/>
                </a:solidFill>
                <a:latin typeface="Inter"/>
                <a:ea typeface="Inter"/>
                <a:cs typeface="Inter"/>
                <a:sym typeface="Inter"/>
              </a:rPr>
              <a:t>DistilBERT</a:t>
            </a:r>
            <a:r>
              <a:rPr lang="en-US" sz="2100" b="1" i="0" u="none" strike="noStrike" cap="none" dirty="0">
                <a:solidFill>
                  <a:srgbClr val="CBD5E1"/>
                </a:solidFill>
                <a:latin typeface="Inter"/>
                <a:ea typeface="Inter"/>
                <a:cs typeface="Inter"/>
                <a:sym typeface="Inter"/>
              </a:rPr>
              <a:t> Wins</a:t>
            </a:r>
            <a:endParaRPr dirty="0"/>
          </a:p>
        </p:txBody>
      </p:sp>
      <p:sp>
        <p:nvSpPr>
          <p:cNvPr id="252" name="Google Shape;252;p21"/>
          <p:cNvSpPr txBox="1"/>
          <p:nvPr/>
        </p:nvSpPr>
        <p:spPr>
          <a:xfrm>
            <a:off x="762000" y="2914650"/>
            <a:ext cx="4572000"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94A3B8"/>
                </a:solidFill>
                <a:latin typeface="Inter"/>
                <a:ea typeface="Inter"/>
                <a:cs typeface="Inter"/>
                <a:sym typeface="Inter"/>
              </a:rPr>
              <a:t>Traditional models (Bag-of-Words) treat words independently, often failing to detect sarcasm or implicit bullying. </a:t>
            </a:r>
            <a:r>
              <a:rPr lang="en-US" sz="1500" b="0" i="0" u="none" strike="noStrike" cap="none" dirty="0" err="1">
                <a:solidFill>
                  <a:srgbClr val="94A3B8"/>
                </a:solidFill>
                <a:latin typeface="Inter"/>
                <a:ea typeface="Inter"/>
                <a:cs typeface="Inter"/>
                <a:sym typeface="Inter"/>
              </a:rPr>
              <a:t>DistilBERT</a:t>
            </a:r>
            <a:r>
              <a:rPr lang="en-US" sz="1500" b="0" i="0" u="none" strike="noStrike" cap="none" dirty="0">
                <a:solidFill>
                  <a:srgbClr val="94A3B8"/>
                </a:solidFill>
                <a:latin typeface="Inter"/>
                <a:ea typeface="Inter"/>
                <a:cs typeface="Inter"/>
                <a:sym typeface="Inter"/>
              </a:rPr>
              <a:t> analyzes the entire sentence structure.</a:t>
            </a:r>
            <a:endParaRPr dirty="0"/>
          </a:p>
        </p:txBody>
      </p:sp>
      <p:sp>
        <p:nvSpPr>
          <p:cNvPr id="253" name="Google Shape;253;p21"/>
          <p:cNvSpPr txBox="1"/>
          <p:nvPr/>
        </p:nvSpPr>
        <p:spPr>
          <a:xfrm>
            <a:off x="762000" y="4762500"/>
            <a:ext cx="4800600"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CBD5E1"/>
                </a:solidFill>
                <a:latin typeface="Inter"/>
                <a:ea typeface="Inter"/>
                <a:cs typeface="Inter"/>
                <a:sym typeface="Inter"/>
              </a:rPr>
              <a:t>Reducing False Positives</a:t>
            </a:r>
            <a:endParaRPr dirty="0"/>
          </a:p>
        </p:txBody>
      </p:sp>
      <p:sp>
        <p:nvSpPr>
          <p:cNvPr id="254" name="Google Shape;254;p21"/>
          <p:cNvSpPr txBox="1"/>
          <p:nvPr/>
        </p:nvSpPr>
        <p:spPr>
          <a:xfrm>
            <a:off x="762000" y="5200650"/>
            <a:ext cx="4572000"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94A3B8"/>
                </a:solidFill>
                <a:latin typeface="Inter"/>
                <a:ea typeface="Inter"/>
                <a:cs typeface="Inter"/>
                <a:sym typeface="Inter"/>
              </a:rPr>
              <a:t>Logistic Regression wrongly flagged 472 harmless tweets as "Other Bullying". </a:t>
            </a:r>
            <a:r>
              <a:rPr lang="en-US" sz="1500" b="0" i="0" u="none" strike="noStrike" cap="none" dirty="0" err="1">
                <a:solidFill>
                  <a:srgbClr val="94A3B8"/>
                </a:solidFill>
                <a:latin typeface="Inter"/>
                <a:ea typeface="Inter"/>
                <a:cs typeface="Inter"/>
                <a:sym typeface="Inter"/>
              </a:rPr>
              <a:t>DistilBERT</a:t>
            </a:r>
            <a:r>
              <a:rPr lang="en-US" sz="1500" b="0" i="0" u="none" strike="noStrike" cap="none" dirty="0">
                <a:solidFill>
                  <a:srgbClr val="94A3B8"/>
                </a:solidFill>
                <a:latin typeface="Inter"/>
                <a:ea typeface="Inter"/>
                <a:cs typeface="Inter"/>
                <a:sym typeface="Inter"/>
              </a:rPr>
              <a:t> reduced this error by over 25% (to 346), proving its ability to understand intent.</a:t>
            </a:r>
            <a:endParaRPr dirty="0"/>
          </a:p>
        </p:txBody>
      </p:sp>
      <p:pic>
        <p:nvPicPr>
          <p:cNvPr id="2" name="Resim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24810" y="762000"/>
            <a:ext cx="6565157" cy="571722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258"/>
        <p:cNvGrpSpPr/>
        <p:nvPr/>
      </p:nvGrpSpPr>
      <p:grpSpPr>
        <a:xfrm>
          <a:off x="0" y="0"/>
          <a:ext cx="0" cy="0"/>
          <a:chOff x="0" y="0"/>
          <a:chExt cx="0" cy="0"/>
        </a:xfrm>
      </p:grpSpPr>
      <p:pic>
        <p:nvPicPr>
          <p:cNvPr id="259" name="Google Shape;259;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60" name="Google Shape;260;p22"/>
          <p:cNvSpPr txBox="1"/>
          <p:nvPr/>
        </p:nvSpPr>
        <p:spPr>
          <a:xfrm>
            <a:off x="571500" y="4838700"/>
            <a:ext cx="11049000" cy="6096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Transformer-based models are essential for modern moderation. Future work will focus on integrating </a:t>
            </a:r>
            <a:r>
              <a:rPr lang="en-US" sz="1500" b="1" i="0" u="none" strike="noStrike" cap="none">
                <a:solidFill>
                  <a:srgbClr val="94A3B8"/>
                </a:solidFill>
                <a:latin typeface="Inter"/>
                <a:ea typeface="Inter"/>
                <a:cs typeface="Inter"/>
                <a:sym typeface="Inter"/>
              </a:rPr>
              <a:t>irony detection modules</a:t>
            </a:r>
            <a:r>
              <a:rPr lang="en-US" sz="1500" b="0" i="0" u="none" strike="noStrike" cap="none">
                <a:solidFill>
                  <a:srgbClr val="94A3B8"/>
                </a:solidFill>
                <a:latin typeface="Inter"/>
                <a:ea typeface="Inter"/>
                <a:cs typeface="Inter"/>
                <a:sym typeface="Inter"/>
              </a:rPr>
              <a:t> to further improve the detection of implicit bullying.</a:t>
            </a:r>
            <a:endParaRPr/>
          </a:p>
        </p:txBody>
      </p:sp>
      <p:sp>
        <p:nvSpPr>
          <p:cNvPr id="261" name="Google Shape;261;p22"/>
          <p:cNvSpPr txBox="1"/>
          <p:nvPr/>
        </p:nvSpPr>
        <p:spPr>
          <a:xfrm>
            <a:off x="1354038" y="2752725"/>
            <a:ext cx="2114550" cy="9525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7500" b="1" i="0" u="none" strike="noStrike" cap="none">
                <a:solidFill>
                  <a:srgbClr val="38BDF8"/>
                </a:solidFill>
                <a:latin typeface="JetBrains Mono"/>
                <a:ea typeface="JetBrains Mono"/>
                <a:cs typeface="JetBrains Mono"/>
                <a:sym typeface="JetBrains Mono"/>
              </a:rPr>
              <a:t>86%</a:t>
            </a:r>
            <a:endParaRPr/>
          </a:p>
        </p:txBody>
      </p:sp>
      <p:sp>
        <p:nvSpPr>
          <p:cNvPr id="262" name="Google Shape;262;p22"/>
          <p:cNvSpPr txBox="1"/>
          <p:nvPr/>
        </p:nvSpPr>
        <p:spPr>
          <a:xfrm>
            <a:off x="1354038" y="3800475"/>
            <a:ext cx="2114550"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F1F5F9"/>
                </a:solidFill>
                <a:latin typeface="Inter"/>
                <a:ea typeface="Inter"/>
                <a:cs typeface="Inter"/>
                <a:sym typeface="Inter"/>
              </a:rPr>
              <a:t>Accuracy Achieved</a:t>
            </a:r>
            <a:endParaRPr/>
          </a:p>
        </p:txBody>
      </p:sp>
      <p:sp>
        <p:nvSpPr>
          <p:cNvPr id="263" name="Google Shape;263;p22"/>
          <p:cNvSpPr txBox="1"/>
          <p:nvPr/>
        </p:nvSpPr>
        <p:spPr>
          <a:xfrm>
            <a:off x="5033813" y="2752725"/>
            <a:ext cx="2324100" cy="9525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7500" b="1" i="0" u="none" strike="noStrike" cap="none">
                <a:solidFill>
                  <a:srgbClr val="38BDF8"/>
                </a:solidFill>
                <a:latin typeface="JetBrains Mono"/>
                <a:ea typeface="JetBrains Mono"/>
                <a:cs typeface="JetBrains Mono"/>
                <a:sym typeface="JetBrains Mono"/>
              </a:rPr>
              <a:t>DL</a:t>
            </a:r>
            <a:endParaRPr/>
          </a:p>
        </p:txBody>
      </p:sp>
      <p:sp>
        <p:nvSpPr>
          <p:cNvPr id="264" name="Google Shape;264;p22"/>
          <p:cNvSpPr txBox="1"/>
          <p:nvPr/>
        </p:nvSpPr>
        <p:spPr>
          <a:xfrm>
            <a:off x="5033813" y="3800475"/>
            <a:ext cx="2324100"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F1F5F9"/>
                </a:solidFill>
                <a:latin typeface="Inter"/>
                <a:ea typeface="Inter"/>
                <a:cs typeface="Inter"/>
                <a:sym typeface="Inter"/>
              </a:rPr>
              <a:t>Superior Architecture</a:t>
            </a:r>
            <a:endParaRPr/>
          </a:p>
        </p:txBody>
      </p:sp>
      <p:sp>
        <p:nvSpPr>
          <p:cNvPr id="265" name="Google Shape;265;p22"/>
          <p:cNvSpPr txBox="1"/>
          <p:nvPr/>
        </p:nvSpPr>
        <p:spPr>
          <a:xfrm>
            <a:off x="8923139" y="2752725"/>
            <a:ext cx="1914525" cy="9525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7500" b="1" i="0" u="none" strike="noStrike" cap="none">
                <a:solidFill>
                  <a:srgbClr val="38BDF8"/>
                </a:solidFill>
                <a:latin typeface="JetBrains Mono"/>
                <a:ea typeface="JetBrains Mono"/>
                <a:cs typeface="JetBrains Mono"/>
                <a:sym typeface="JetBrains Mono"/>
              </a:rPr>
              <a:t>6</a:t>
            </a:r>
            <a:endParaRPr/>
          </a:p>
        </p:txBody>
      </p:sp>
      <p:sp>
        <p:nvSpPr>
          <p:cNvPr id="266" name="Google Shape;266;p22"/>
          <p:cNvSpPr txBox="1"/>
          <p:nvPr/>
        </p:nvSpPr>
        <p:spPr>
          <a:xfrm>
            <a:off x="8923139" y="3800475"/>
            <a:ext cx="1914525"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F1F5F9"/>
                </a:solidFill>
                <a:latin typeface="Inter"/>
                <a:ea typeface="Inter"/>
                <a:cs typeface="Inter"/>
                <a:sym typeface="Inter"/>
              </a:rPr>
              <a:t>Classes Detected</a:t>
            </a:r>
            <a:endParaRPr/>
          </a:p>
        </p:txBody>
      </p:sp>
      <p:sp>
        <p:nvSpPr>
          <p:cNvPr id="267" name="Google Shape;267;p22"/>
          <p:cNvSpPr txBox="1"/>
          <p:nvPr/>
        </p:nvSpPr>
        <p:spPr>
          <a:xfrm>
            <a:off x="571500" y="571500"/>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38BDF8"/>
                </a:solidFill>
                <a:latin typeface="Inter"/>
                <a:ea typeface="Inter"/>
                <a:cs typeface="Inter"/>
                <a:sym typeface="Inter"/>
              </a:rPr>
              <a:t>Conclusion &amp; Future Work</a:t>
            </a:r>
            <a:endParaRPr/>
          </a:p>
        </p:txBody>
      </p:sp>
      <p:sp>
        <p:nvSpPr>
          <p:cNvPr id="268" name="Google Shape;268;p22"/>
          <p:cNvSpPr/>
          <p:nvPr/>
        </p:nvSpPr>
        <p:spPr>
          <a:xfrm>
            <a:off x="571500" y="1323975"/>
            <a:ext cx="11049000" cy="1905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pic>
        <p:nvPicPr>
          <p:cNvPr id="259" name="Google Shape;259;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68" name="Google Shape;268;p22"/>
          <p:cNvSpPr/>
          <p:nvPr/>
        </p:nvSpPr>
        <p:spPr>
          <a:xfrm>
            <a:off x="571500" y="1323975"/>
            <a:ext cx="11049000" cy="1905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Metin kutusu 1"/>
          <p:cNvSpPr txBox="1"/>
          <p:nvPr/>
        </p:nvSpPr>
        <p:spPr>
          <a:xfrm>
            <a:off x="3496777" y="3059552"/>
            <a:ext cx="7671335" cy="430887"/>
          </a:xfrm>
          <a:prstGeom prst="rect">
            <a:avLst/>
          </a:prstGeom>
          <a:noFill/>
        </p:spPr>
        <p:txBody>
          <a:bodyPr wrap="square" rtlCol="0">
            <a:spAutoFit/>
          </a:bodyPr>
          <a:lstStyle/>
          <a:p>
            <a:r>
              <a:rPr lang="tr-TR" sz="2200" b="1" i="1" dirty="0" err="1" smtClean="0">
                <a:solidFill>
                  <a:schemeClr val="bg1"/>
                </a:solidFill>
                <a:latin typeface="+mn-lt"/>
              </a:rPr>
              <a:t>Thank</a:t>
            </a:r>
            <a:r>
              <a:rPr lang="tr-TR" sz="2200" b="1" i="1" dirty="0" smtClean="0">
                <a:solidFill>
                  <a:schemeClr val="bg1"/>
                </a:solidFill>
                <a:latin typeface="+mn-lt"/>
              </a:rPr>
              <a:t> </a:t>
            </a:r>
            <a:r>
              <a:rPr lang="tr-TR" sz="2200" b="1" i="1" dirty="0" err="1" smtClean="0">
                <a:solidFill>
                  <a:schemeClr val="bg1"/>
                </a:solidFill>
                <a:latin typeface="+mn-lt"/>
              </a:rPr>
              <a:t>you</a:t>
            </a:r>
            <a:r>
              <a:rPr lang="tr-TR" sz="2200" b="1" i="1" dirty="0" smtClean="0">
                <a:solidFill>
                  <a:schemeClr val="bg1"/>
                </a:solidFill>
                <a:latin typeface="+mn-lt"/>
              </a:rPr>
              <a:t> </a:t>
            </a:r>
            <a:r>
              <a:rPr lang="tr-TR" sz="2200" b="1" i="1" dirty="0" err="1" smtClean="0">
                <a:solidFill>
                  <a:schemeClr val="bg1"/>
                </a:solidFill>
                <a:latin typeface="+mn-lt"/>
              </a:rPr>
              <a:t>listening</a:t>
            </a:r>
            <a:r>
              <a:rPr lang="tr-TR" sz="2200" b="1" i="1" dirty="0" smtClean="0">
                <a:solidFill>
                  <a:schemeClr val="bg1"/>
                </a:solidFill>
                <a:latin typeface="+mn-lt"/>
              </a:rPr>
              <a:t> </a:t>
            </a:r>
            <a:r>
              <a:rPr lang="tr-TR" sz="2200" b="1" i="1" dirty="0" err="1" smtClean="0">
                <a:solidFill>
                  <a:schemeClr val="bg1"/>
                </a:solidFill>
                <a:latin typeface="+mn-lt"/>
              </a:rPr>
              <a:t>to</a:t>
            </a:r>
            <a:r>
              <a:rPr lang="tr-TR" sz="2200" b="1" i="1" dirty="0" smtClean="0">
                <a:solidFill>
                  <a:schemeClr val="bg1"/>
                </a:solidFill>
                <a:latin typeface="+mn-lt"/>
              </a:rPr>
              <a:t> me</a:t>
            </a:r>
            <a:endParaRPr lang="tr-TR" sz="2200" b="1" i="1" dirty="0">
              <a:solidFill>
                <a:schemeClr val="bg1"/>
              </a:solidFill>
              <a:latin typeface="+mn-lt"/>
            </a:endParaRPr>
          </a:p>
        </p:txBody>
      </p:sp>
      <p:sp>
        <p:nvSpPr>
          <p:cNvPr id="3" name="Metin kutusu 2"/>
          <p:cNvSpPr txBox="1"/>
          <p:nvPr/>
        </p:nvSpPr>
        <p:spPr>
          <a:xfrm>
            <a:off x="9230627" y="5352240"/>
            <a:ext cx="5582653" cy="523220"/>
          </a:xfrm>
          <a:prstGeom prst="rect">
            <a:avLst/>
          </a:prstGeom>
          <a:noFill/>
        </p:spPr>
        <p:txBody>
          <a:bodyPr wrap="square" rtlCol="0">
            <a:spAutoFit/>
          </a:bodyPr>
          <a:lstStyle/>
          <a:p>
            <a:r>
              <a:rPr lang="tr-TR" b="1" i="1" dirty="0" smtClean="0">
                <a:solidFill>
                  <a:schemeClr val="bg1"/>
                </a:solidFill>
                <a:latin typeface="+mn-lt"/>
              </a:rPr>
              <a:t>Ardıl</a:t>
            </a:r>
            <a:r>
              <a:rPr lang="tr-TR" dirty="0" smtClean="0">
                <a:solidFill>
                  <a:schemeClr val="bg1"/>
                </a:solidFill>
                <a:latin typeface="+mn-lt"/>
              </a:rPr>
              <a:t> </a:t>
            </a:r>
            <a:r>
              <a:rPr lang="tr-TR" b="1" i="1" dirty="0" smtClean="0">
                <a:solidFill>
                  <a:schemeClr val="bg1"/>
                </a:solidFill>
                <a:latin typeface="+mn-lt"/>
              </a:rPr>
              <a:t>Sungu</a:t>
            </a:r>
          </a:p>
          <a:p>
            <a:r>
              <a:rPr lang="tr-TR" dirty="0" smtClean="0">
                <a:solidFill>
                  <a:schemeClr val="bg1"/>
                </a:solidFill>
              </a:rPr>
              <a:t>1031510019</a:t>
            </a:r>
            <a:endParaRPr lang="tr-TR" dirty="0">
              <a:solidFill>
                <a:schemeClr val="bg1"/>
              </a:solidFill>
            </a:endParaRPr>
          </a:p>
        </p:txBody>
      </p:sp>
    </p:spTree>
    <p:extLst>
      <p:ext uri="{BB962C8B-B14F-4D97-AF65-F5344CB8AC3E}">
        <p14:creationId xmlns:p14="http://schemas.microsoft.com/office/powerpoint/2010/main" val="312096967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TotalTime>
  <Words>670</Words>
  <Application>Microsoft Office PowerPoint</Application>
  <PresentationFormat>Geniş ekran</PresentationFormat>
  <Paragraphs>105</Paragraphs>
  <Slides>15</Slides>
  <Notes>14</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15</vt:i4>
      </vt:variant>
    </vt:vector>
  </HeadingPairs>
  <TitlesOfParts>
    <vt:vector size="20" baseType="lpstr">
      <vt:lpstr>Arial</vt:lpstr>
      <vt:lpstr>JetBrains Mono</vt:lpstr>
      <vt:lpstr>Calibri</vt:lpstr>
      <vt:lpstr>Inter</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user</dc:creator>
  <cp:lastModifiedBy>user</cp:lastModifiedBy>
  <cp:revision>13</cp:revision>
  <dcterms:modified xsi:type="dcterms:W3CDTF">2025-12-24T00:42:23Z</dcterms:modified>
</cp:coreProperties>
</file>